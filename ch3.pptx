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  <p:sldMasterId id="2147483936" r:id="rId5"/>
    <p:sldMasterId id="2147483943" r:id="rId6"/>
    <p:sldMasterId id="2147483965" r:id="rId7"/>
    <p:sldMasterId id="2147483968" r:id="rId8"/>
    <p:sldMasterId id="2147483971" r:id="rId9"/>
    <p:sldMasterId id="2147483976" r:id="rId10"/>
  </p:sldMasterIdLst>
  <p:notesMasterIdLst>
    <p:notesMasterId r:id="rId69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vin, Megan - Hoboken" initials="MG" lastIdx="38" clrIdx="0"/>
  <p:cmAuthor id="1" name="Michael, Leah - Indianapolis" initials="LM" lastIdx="9" clrIdx="1"/>
  <p:cmAuthor id="2" name="Heaney, Barbara - Hoboken" initials="BH" lastIdx="3" clrIdx="2"/>
  <p:cmAuthor id="3" name="Perry, Nancy - Hoboken" initials="NP" lastIdx="2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9"/>
    <a:srgbClr val="E4E5E3"/>
    <a:srgbClr val="F2F2F1"/>
    <a:srgbClr val="EB9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0358A-E957-47EB-971B-8F54F380F7CE}" v="6" dt="2020-03-10T16:04:48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89051" autoAdjust="0"/>
  </p:normalViewPr>
  <p:slideViewPr>
    <p:cSldViewPr>
      <p:cViewPr varScale="1">
        <p:scale>
          <a:sx n="105" d="100"/>
          <a:sy n="105" d="100"/>
        </p:scale>
        <p:origin x="24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02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6254"/>
    </p:cViewPr>
  </p:sorterViewPr>
  <p:notesViewPr>
    <p:cSldViewPr>
      <p:cViewPr varScale="1">
        <p:scale>
          <a:sx n="134" d="100"/>
          <a:sy n="134" d="100"/>
        </p:scale>
        <p:origin x="3184" y="20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slide" Target="slides/slide56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commentAuthors" Target="commentAuthors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microsoft.com/office/2015/10/relationships/revisionInfo" Target="revisionInfo.xml"/><Relationship Id="rId7" Type="http://schemas.openxmlformats.org/officeDocument/2006/relationships/slideMaster" Target="slideMasters/slideMaster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th, Judy" userId="88019a05-5656-4d0d-a3d1-1931a654ed73" providerId="ADAL" clId="{8B50358A-E957-47EB-971B-8F54F380F7CE}"/>
    <pc:docChg chg="undo custSel delSld modSld">
      <pc:chgData name="Howarth, Judy" userId="88019a05-5656-4d0d-a3d1-1931a654ed73" providerId="ADAL" clId="{8B50358A-E957-47EB-971B-8F54F380F7CE}" dt="2020-03-10T16:05:15.247" v="221" actId="20577"/>
      <pc:docMkLst>
        <pc:docMk/>
      </pc:docMkLst>
      <pc:sldChg chg="modSp">
        <pc:chgData name="Howarth, Judy" userId="88019a05-5656-4d0d-a3d1-1931a654ed73" providerId="ADAL" clId="{8B50358A-E957-47EB-971B-8F54F380F7CE}" dt="2020-03-10T16:05:15.247" v="221" actId="20577"/>
        <pc:sldMkLst>
          <pc:docMk/>
          <pc:sldMk cId="1909659219" sldId="256"/>
        </pc:sldMkLst>
        <pc:spChg chg="mod">
          <ac:chgData name="Howarth, Judy" userId="88019a05-5656-4d0d-a3d1-1931a654ed73" providerId="ADAL" clId="{8B50358A-E957-47EB-971B-8F54F380F7CE}" dt="2020-03-10T15:50:05.044" v="16" actId="255"/>
          <ac:spMkLst>
            <pc:docMk/>
            <pc:sldMk cId="1909659219" sldId="256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0:08.252" v="22" actId="20577"/>
          <ac:spMkLst>
            <pc:docMk/>
            <pc:sldMk cId="1909659219" sldId="256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07.415" v="211" actId="20577"/>
          <ac:spMkLst>
            <pc:docMk/>
            <pc:sldMk cId="1909659219" sldId="256"/>
            <ac:spMk id="4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15.247" v="221" actId="20577"/>
          <ac:spMkLst>
            <pc:docMk/>
            <pc:sldMk cId="1909659219" sldId="256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5:04.247" v="66" actId="2696"/>
        <pc:sldMkLst>
          <pc:docMk/>
          <pc:sldMk cId="1499389318" sldId="257"/>
        </pc:sldMkLst>
      </pc:sldChg>
      <pc:sldChg chg="modSp">
        <pc:chgData name="Howarth, Judy" userId="88019a05-5656-4d0d-a3d1-1931a654ed73" providerId="ADAL" clId="{8B50358A-E957-47EB-971B-8F54F380F7CE}" dt="2020-03-10T15:57:20.209" v="94" actId="20577"/>
        <pc:sldMkLst>
          <pc:docMk/>
          <pc:sldMk cId="1663153728" sldId="258"/>
        </pc:sldMkLst>
        <pc:spChg chg="mod">
          <ac:chgData name="Howarth, Judy" userId="88019a05-5656-4d0d-a3d1-1931a654ed73" providerId="ADAL" clId="{8B50358A-E957-47EB-971B-8F54F380F7CE}" dt="2020-03-10T15:57:20.209" v="94" actId="20577"/>
          <ac:spMkLst>
            <pc:docMk/>
            <pc:sldMk cId="1663153728" sldId="258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7:07.250" v="87" actId="20577"/>
          <ac:spMkLst>
            <pc:docMk/>
            <pc:sldMk cId="1663153728" sldId="258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7:13.001" v="88" actId="2696"/>
        <pc:sldMkLst>
          <pc:docMk/>
          <pc:sldMk cId="1525907774" sldId="259"/>
        </pc:sldMkLst>
      </pc:sldChg>
      <pc:sldChg chg="del">
        <pc:chgData name="Howarth, Judy" userId="88019a05-5656-4d0d-a3d1-1931a654ed73" providerId="ADAL" clId="{8B50358A-E957-47EB-971B-8F54F380F7CE}" dt="2020-03-10T15:57:27.995" v="96" actId="2696"/>
        <pc:sldMkLst>
          <pc:docMk/>
          <pc:sldMk cId="135406596" sldId="260"/>
        </pc:sldMkLst>
      </pc:sldChg>
      <pc:sldChg chg="del">
        <pc:chgData name="Howarth, Judy" userId="88019a05-5656-4d0d-a3d1-1931a654ed73" providerId="ADAL" clId="{8B50358A-E957-47EB-971B-8F54F380F7CE}" dt="2020-03-10T15:57:26.676" v="95" actId="2696"/>
        <pc:sldMkLst>
          <pc:docMk/>
          <pc:sldMk cId="179564966" sldId="261"/>
        </pc:sldMkLst>
      </pc:sldChg>
      <pc:sldChg chg="del">
        <pc:chgData name="Howarth, Judy" userId="88019a05-5656-4d0d-a3d1-1931a654ed73" providerId="ADAL" clId="{8B50358A-E957-47EB-971B-8F54F380F7CE}" dt="2020-03-10T15:57:29.663" v="97" actId="2696"/>
        <pc:sldMkLst>
          <pc:docMk/>
          <pc:sldMk cId="261660464" sldId="262"/>
        </pc:sldMkLst>
      </pc:sldChg>
      <pc:sldChg chg="del">
        <pc:chgData name="Howarth, Judy" userId="88019a05-5656-4d0d-a3d1-1931a654ed73" providerId="ADAL" clId="{8B50358A-E957-47EB-971B-8F54F380F7CE}" dt="2020-03-10T15:57:33.246" v="98" actId="2696"/>
        <pc:sldMkLst>
          <pc:docMk/>
          <pc:sldMk cId="1035247850" sldId="263"/>
        </pc:sldMkLst>
      </pc:sldChg>
      <pc:sldChg chg="del">
        <pc:chgData name="Howarth, Judy" userId="88019a05-5656-4d0d-a3d1-1931a654ed73" providerId="ADAL" clId="{8B50358A-E957-47EB-971B-8F54F380F7CE}" dt="2020-03-10T15:57:34.001" v="99" actId="2696"/>
        <pc:sldMkLst>
          <pc:docMk/>
          <pc:sldMk cId="940919996" sldId="264"/>
        </pc:sldMkLst>
      </pc:sldChg>
      <pc:sldChg chg="del">
        <pc:chgData name="Howarth, Judy" userId="88019a05-5656-4d0d-a3d1-1931a654ed73" providerId="ADAL" clId="{8B50358A-E957-47EB-971B-8F54F380F7CE}" dt="2020-03-10T15:57:35.051" v="100" actId="2696"/>
        <pc:sldMkLst>
          <pc:docMk/>
          <pc:sldMk cId="928245765" sldId="265"/>
        </pc:sldMkLst>
      </pc:sldChg>
      <pc:sldChg chg="del">
        <pc:chgData name="Howarth, Judy" userId="88019a05-5656-4d0d-a3d1-1931a654ed73" providerId="ADAL" clId="{8B50358A-E957-47EB-971B-8F54F380F7CE}" dt="2020-03-10T15:57:36.075" v="101" actId="2696"/>
        <pc:sldMkLst>
          <pc:docMk/>
          <pc:sldMk cId="895276841" sldId="266"/>
        </pc:sldMkLst>
      </pc:sldChg>
      <pc:sldChg chg="del">
        <pc:chgData name="Howarth, Judy" userId="88019a05-5656-4d0d-a3d1-1931a654ed73" providerId="ADAL" clId="{8B50358A-E957-47EB-971B-8F54F380F7CE}" dt="2020-03-10T15:57:40.091" v="102" actId="2696"/>
        <pc:sldMkLst>
          <pc:docMk/>
          <pc:sldMk cId="687315263" sldId="267"/>
        </pc:sldMkLst>
      </pc:sldChg>
      <pc:sldChg chg="del">
        <pc:chgData name="Howarth, Judy" userId="88019a05-5656-4d0d-a3d1-1931a654ed73" providerId="ADAL" clId="{8B50358A-E957-47EB-971B-8F54F380F7CE}" dt="2020-03-10T15:57:41.194" v="103" actId="2696"/>
        <pc:sldMkLst>
          <pc:docMk/>
          <pc:sldMk cId="921995896" sldId="268"/>
        </pc:sldMkLst>
      </pc:sldChg>
      <pc:sldChg chg="del">
        <pc:chgData name="Howarth, Judy" userId="88019a05-5656-4d0d-a3d1-1931a654ed73" providerId="ADAL" clId="{8B50358A-E957-47EB-971B-8F54F380F7CE}" dt="2020-03-10T15:57:42.896" v="104" actId="2696"/>
        <pc:sldMkLst>
          <pc:docMk/>
          <pc:sldMk cId="399428975" sldId="269"/>
        </pc:sldMkLst>
      </pc:sldChg>
      <pc:sldChg chg="modSp">
        <pc:chgData name="Howarth, Judy" userId="88019a05-5656-4d0d-a3d1-1931a654ed73" providerId="ADAL" clId="{8B50358A-E957-47EB-971B-8F54F380F7CE}" dt="2020-03-10T15:58:11.702" v="122" actId="20577"/>
        <pc:sldMkLst>
          <pc:docMk/>
          <pc:sldMk cId="167070206" sldId="270"/>
        </pc:sldMkLst>
        <pc:spChg chg="mod">
          <ac:chgData name="Howarth, Judy" userId="88019a05-5656-4d0d-a3d1-1931a654ed73" providerId="ADAL" clId="{8B50358A-E957-47EB-971B-8F54F380F7CE}" dt="2020-03-10T15:57:54.831" v="108" actId="20577"/>
          <ac:spMkLst>
            <pc:docMk/>
            <pc:sldMk cId="167070206" sldId="270"/>
            <ac:spMk id="5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11.702" v="122" actId="20577"/>
          <ac:spMkLst>
            <pc:docMk/>
            <pc:sldMk cId="167070206" sldId="270"/>
            <ac:spMk id="13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43.454" v="138" actId="20577"/>
        <pc:sldMkLst>
          <pc:docMk/>
          <pc:sldMk cId="388267789" sldId="272"/>
        </pc:sldMkLst>
        <pc:spChg chg="mod">
          <ac:chgData name="Howarth, Judy" userId="88019a05-5656-4d0d-a3d1-1931a654ed73" providerId="ADAL" clId="{8B50358A-E957-47EB-971B-8F54F380F7CE}" dt="2020-03-10T15:58:43.454" v="138" actId="20577"/>
          <ac:spMkLst>
            <pc:docMk/>
            <pc:sldMk cId="388267789" sldId="272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0.798" v="142" actId="20577"/>
        <pc:sldMkLst>
          <pc:docMk/>
          <pc:sldMk cId="1024830255" sldId="273"/>
        </pc:sldMkLst>
        <pc:spChg chg="mod">
          <ac:chgData name="Howarth, Judy" userId="88019a05-5656-4d0d-a3d1-1931a654ed73" providerId="ADAL" clId="{8B50358A-E957-47EB-971B-8F54F380F7CE}" dt="2020-03-10T15:58:50.798" v="142" actId="20577"/>
          <ac:spMkLst>
            <pc:docMk/>
            <pc:sldMk cId="1024830255" sldId="273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9.585" v="146" actId="20577"/>
        <pc:sldMkLst>
          <pc:docMk/>
          <pc:sldMk cId="174170774" sldId="275"/>
        </pc:sldMkLst>
        <pc:spChg chg="mod">
          <ac:chgData name="Howarth, Judy" userId="88019a05-5656-4d0d-a3d1-1931a654ed73" providerId="ADAL" clId="{8B50358A-E957-47EB-971B-8F54F380F7CE}" dt="2020-03-10T15:58:59.585" v="146" actId="20577"/>
          <ac:spMkLst>
            <pc:docMk/>
            <pc:sldMk cId="174170774" sldId="275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0.418" v="162" actId="20577"/>
        <pc:sldMkLst>
          <pc:docMk/>
          <pc:sldMk cId="1510030601" sldId="277"/>
        </pc:sldMkLst>
        <pc:spChg chg="mod">
          <ac:chgData name="Howarth, Judy" userId="88019a05-5656-4d0d-a3d1-1931a654ed73" providerId="ADAL" clId="{8B50358A-E957-47EB-971B-8F54F380F7CE}" dt="2020-03-10T15:59:30.418" v="162" actId="20577"/>
          <ac:spMkLst>
            <pc:docMk/>
            <pc:sldMk cId="1510030601" sldId="277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41.304" v="170" actId="20577"/>
        <pc:sldMkLst>
          <pc:docMk/>
          <pc:sldMk cId="1952765383" sldId="278"/>
        </pc:sldMkLst>
        <pc:spChg chg="mod">
          <ac:chgData name="Howarth, Judy" userId="88019a05-5656-4d0d-a3d1-1931a654ed73" providerId="ADAL" clId="{8B50358A-E957-47EB-971B-8F54F380F7CE}" dt="2020-03-10T15:59:41.304" v="170" actId="20577"/>
          <ac:spMkLst>
            <pc:docMk/>
            <pc:sldMk cId="1952765383" sldId="27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53.011" v="174" actId="2696"/>
        <pc:sldMkLst>
          <pc:docMk/>
          <pc:sldMk cId="1066368906" sldId="279"/>
        </pc:sldMkLst>
      </pc:sldChg>
      <pc:sldChg chg="del">
        <pc:chgData name="Howarth, Judy" userId="88019a05-5656-4d0d-a3d1-1931a654ed73" providerId="ADAL" clId="{8B50358A-E957-47EB-971B-8F54F380F7CE}" dt="2020-03-10T15:59:53.884" v="175" actId="2696"/>
        <pc:sldMkLst>
          <pc:docMk/>
          <pc:sldMk cId="1718291601" sldId="280"/>
        </pc:sldMkLst>
      </pc:sldChg>
      <pc:sldChg chg="del">
        <pc:chgData name="Howarth, Judy" userId="88019a05-5656-4d0d-a3d1-1931a654ed73" providerId="ADAL" clId="{8B50358A-E957-47EB-971B-8F54F380F7CE}" dt="2020-03-10T15:59:55.856" v="176" actId="2696"/>
        <pc:sldMkLst>
          <pc:docMk/>
          <pc:sldMk cId="687604427" sldId="281"/>
        </pc:sldMkLst>
      </pc:sldChg>
      <pc:sldChg chg="del">
        <pc:chgData name="Howarth, Judy" userId="88019a05-5656-4d0d-a3d1-1931a654ed73" providerId="ADAL" clId="{8B50358A-E957-47EB-971B-8F54F380F7CE}" dt="2020-03-10T15:59:57.526" v="177" actId="2696"/>
        <pc:sldMkLst>
          <pc:docMk/>
          <pc:sldMk cId="586848863" sldId="282"/>
        </pc:sldMkLst>
      </pc:sldChg>
      <pc:sldChg chg="modSp">
        <pc:chgData name="Howarth, Judy" userId="88019a05-5656-4d0d-a3d1-1931a654ed73" providerId="ADAL" clId="{8B50358A-E957-47EB-971B-8F54F380F7CE}" dt="2020-03-10T16:00:03.758" v="181" actId="20577"/>
        <pc:sldMkLst>
          <pc:docMk/>
          <pc:sldMk cId="365690021" sldId="283"/>
        </pc:sldMkLst>
        <pc:spChg chg="mod">
          <ac:chgData name="Howarth, Judy" userId="88019a05-5656-4d0d-a3d1-1931a654ed73" providerId="ADAL" clId="{8B50358A-E957-47EB-971B-8F54F380F7CE}" dt="2020-03-10T16:00:03.758" v="181" actId="20577"/>
          <ac:spMkLst>
            <pc:docMk/>
            <pc:sldMk cId="365690021" sldId="283"/>
            <ac:spMk id="4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06.318" v="182" actId="2696"/>
        <pc:sldMkLst>
          <pc:docMk/>
          <pc:sldMk cId="1538439825" sldId="284"/>
        </pc:sldMkLst>
      </pc:sldChg>
      <pc:sldChg chg="del">
        <pc:chgData name="Howarth, Judy" userId="88019a05-5656-4d0d-a3d1-1931a654ed73" providerId="ADAL" clId="{8B50358A-E957-47EB-971B-8F54F380F7CE}" dt="2020-03-10T16:00:08.927" v="183" actId="2696"/>
        <pc:sldMkLst>
          <pc:docMk/>
          <pc:sldMk cId="696315825" sldId="285"/>
        </pc:sldMkLst>
      </pc:sldChg>
      <pc:sldChg chg="del">
        <pc:chgData name="Howarth, Judy" userId="88019a05-5656-4d0d-a3d1-1931a654ed73" providerId="ADAL" clId="{8B50358A-E957-47EB-971B-8F54F380F7CE}" dt="2020-03-10T16:00:10.349" v="184" actId="2696"/>
        <pc:sldMkLst>
          <pc:docMk/>
          <pc:sldMk cId="1811979975" sldId="286"/>
        </pc:sldMkLst>
      </pc:sldChg>
      <pc:sldChg chg="del">
        <pc:chgData name="Howarth, Judy" userId="88019a05-5656-4d0d-a3d1-1931a654ed73" providerId="ADAL" clId="{8B50358A-E957-47EB-971B-8F54F380F7CE}" dt="2020-03-10T16:00:14.200" v="185" actId="2696"/>
        <pc:sldMkLst>
          <pc:docMk/>
          <pc:sldMk cId="509745404" sldId="287"/>
        </pc:sldMkLst>
      </pc:sldChg>
      <pc:sldChg chg="del">
        <pc:chgData name="Howarth, Judy" userId="88019a05-5656-4d0d-a3d1-1931a654ed73" providerId="ADAL" clId="{8B50358A-E957-47EB-971B-8F54F380F7CE}" dt="2020-03-10T16:00:52.112" v="201" actId="2696"/>
        <pc:sldMkLst>
          <pc:docMk/>
          <pc:sldMk cId="217440387" sldId="288"/>
        </pc:sldMkLst>
      </pc:sldChg>
      <pc:sldChg chg="del">
        <pc:chgData name="Howarth, Judy" userId="88019a05-5656-4d0d-a3d1-1931a654ed73" providerId="ADAL" clId="{8B50358A-E957-47EB-971B-8F54F380F7CE}" dt="2020-03-10T16:00:19.184" v="186" actId="2696"/>
        <pc:sldMkLst>
          <pc:docMk/>
          <pc:sldMk cId="1885132688" sldId="289"/>
        </pc:sldMkLst>
      </pc:sldChg>
      <pc:sldChg chg="modSp">
        <pc:chgData name="Howarth, Judy" userId="88019a05-5656-4d0d-a3d1-1931a654ed73" providerId="ADAL" clId="{8B50358A-E957-47EB-971B-8F54F380F7CE}" dt="2020-03-10T16:00:23.668" v="190" actId="20577"/>
        <pc:sldMkLst>
          <pc:docMk/>
          <pc:sldMk cId="998461558" sldId="290"/>
        </pc:sldMkLst>
        <pc:spChg chg="mod">
          <ac:chgData name="Howarth, Judy" userId="88019a05-5656-4d0d-a3d1-1931a654ed73" providerId="ADAL" clId="{8B50358A-E957-47EB-971B-8F54F380F7CE}" dt="2020-03-10T16:00:23.668" v="190" actId="20577"/>
          <ac:spMkLst>
            <pc:docMk/>
            <pc:sldMk cId="998461558" sldId="290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6:00:31.974" v="194" actId="20577"/>
        <pc:sldMkLst>
          <pc:docMk/>
          <pc:sldMk cId="720469146" sldId="291"/>
        </pc:sldMkLst>
        <pc:spChg chg="mod">
          <ac:chgData name="Howarth, Judy" userId="88019a05-5656-4d0d-a3d1-1931a654ed73" providerId="ADAL" clId="{8B50358A-E957-47EB-971B-8F54F380F7CE}" dt="2020-03-10T16:00:31.974" v="194" actId="20577"/>
          <ac:spMkLst>
            <pc:docMk/>
            <pc:sldMk cId="720469146" sldId="291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36.643" v="195" actId="2696"/>
        <pc:sldMkLst>
          <pc:docMk/>
          <pc:sldMk cId="139548211" sldId="292"/>
        </pc:sldMkLst>
      </pc:sldChg>
      <pc:sldChg chg="del">
        <pc:chgData name="Howarth, Judy" userId="88019a05-5656-4d0d-a3d1-1931a654ed73" providerId="ADAL" clId="{8B50358A-E957-47EB-971B-8F54F380F7CE}" dt="2020-03-10T16:00:37.946" v="196" actId="2696"/>
        <pc:sldMkLst>
          <pc:docMk/>
          <pc:sldMk cId="342244477" sldId="293"/>
        </pc:sldMkLst>
      </pc:sldChg>
      <pc:sldChg chg="del">
        <pc:chgData name="Howarth, Judy" userId="88019a05-5656-4d0d-a3d1-1931a654ed73" providerId="ADAL" clId="{8B50358A-E957-47EB-971B-8F54F380F7CE}" dt="2020-03-10T16:00:39.091" v="197" actId="2696"/>
        <pc:sldMkLst>
          <pc:docMk/>
          <pc:sldMk cId="1300580792" sldId="294"/>
        </pc:sldMkLst>
      </pc:sldChg>
      <pc:sldChg chg="del">
        <pc:chgData name="Howarth, Judy" userId="88019a05-5656-4d0d-a3d1-1931a654ed73" providerId="ADAL" clId="{8B50358A-E957-47EB-971B-8F54F380F7CE}" dt="2020-03-10T16:00:40.312" v="198" actId="2696"/>
        <pc:sldMkLst>
          <pc:docMk/>
          <pc:sldMk cId="937452732" sldId="295"/>
        </pc:sldMkLst>
      </pc:sldChg>
      <pc:sldChg chg="del">
        <pc:chgData name="Howarth, Judy" userId="88019a05-5656-4d0d-a3d1-1931a654ed73" providerId="ADAL" clId="{8B50358A-E957-47EB-971B-8F54F380F7CE}" dt="2020-03-10T16:00:41.577" v="199" actId="2696"/>
        <pc:sldMkLst>
          <pc:docMk/>
          <pc:sldMk cId="1954988893" sldId="296"/>
        </pc:sldMkLst>
      </pc:sldChg>
      <pc:sldChg chg="modSp del">
        <pc:chgData name="Howarth, Judy" userId="88019a05-5656-4d0d-a3d1-1931a654ed73" providerId="ADAL" clId="{8B50358A-E957-47EB-971B-8F54F380F7CE}" dt="2020-03-10T16:00:42.437" v="200" actId="2696"/>
        <pc:sldMkLst>
          <pc:docMk/>
          <pc:sldMk cId="1546931097" sldId="297"/>
        </pc:sldMkLst>
        <pc:spChg chg="mod">
          <ac:chgData name="Howarth, Judy" userId="88019a05-5656-4d0d-a3d1-1931a654ed73" providerId="ADAL" clId="{8B50358A-E957-47EB-971B-8F54F380F7CE}" dt="2020-03-10T15:56:50.586" v="83" actId="20577"/>
          <ac:spMkLst>
            <pc:docMk/>
            <pc:sldMk cId="1546931097" sldId="297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6:32.762" v="78" actId="20577"/>
        <pc:sldMkLst>
          <pc:docMk/>
          <pc:sldMk cId="33643281" sldId="298"/>
        </pc:sldMkLst>
        <pc:spChg chg="mod">
          <ac:chgData name="Howarth, Judy" userId="88019a05-5656-4d0d-a3d1-1931a654ed73" providerId="ADAL" clId="{8B50358A-E957-47EB-971B-8F54F380F7CE}" dt="2020-03-10T15:56:28.579" v="74" actId="20577"/>
          <ac:spMkLst>
            <pc:docMk/>
            <pc:sldMk cId="33643281" sldId="298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6:32.762" v="78" actId="20577"/>
          <ac:spMkLst>
            <pc:docMk/>
            <pc:sldMk cId="33643281" sldId="298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27.179" v="134" actId="20577"/>
        <pc:sldMkLst>
          <pc:docMk/>
          <pc:sldMk cId="2088891144" sldId="299"/>
        </pc:sldMkLst>
        <pc:spChg chg="mod">
          <ac:chgData name="Howarth, Judy" userId="88019a05-5656-4d0d-a3d1-1931a654ed73" providerId="ADAL" clId="{8B50358A-E957-47EB-971B-8F54F380F7CE}" dt="2020-03-10T15:58:23.260" v="130" actId="20577"/>
          <ac:spMkLst>
            <pc:docMk/>
            <pc:sldMk cId="2088891144" sldId="299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27.179" v="134" actId="20577"/>
          <ac:spMkLst>
            <pc:docMk/>
            <pc:sldMk cId="2088891144" sldId="299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7.234" v="166" actId="20577"/>
        <pc:sldMkLst>
          <pc:docMk/>
          <pc:sldMk cId="1003484616" sldId="300"/>
        </pc:sldMkLst>
        <pc:spChg chg="mod">
          <ac:chgData name="Howarth, Judy" userId="88019a05-5656-4d0d-a3d1-1931a654ed73" providerId="ADAL" clId="{8B50358A-E957-47EB-971B-8F54F380F7CE}" dt="2020-03-10T15:59:37.234" v="166" actId="20577"/>
          <ac:spMkLst>
            <pc:docMk/>
            <pc:sldMk cId="1003484616" sldId="300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46.913" v="171" actId="2696"/>
        <pc:sldMkLst>
          <pc:docMk/>
          <pc:sldMk cId="318031246" sldId="302"/>
        </pc:sldMkLst>
      </pc:sldChg>
      <pc:sldChg chg="del">
        <pc:chgData name="Howarth, Judy" userId="88019a05-5656-4d0d-a3d1-1931a654ed73" providerId="ADAL" clId="{8B50358A-E957-47EB-971B-8F54F380F7CE}" dt="2020-03-10T15:59:48.394" v="172" actId="2696"/>
        <pc:sldMkLst>
          <pc:docMk/>
          <pc:sldMk cId="453555804" sldId="303"/>
        </pc:sldMkLst>
      </pc:sldChg>
      <pc:sldChg chg="modSp">
        <pc:chgData name="Howarth, Judy" userId="88019a05-5656-4d0d-a3d1-1931a654ed73" providerId="ADAL" clId="{8B50358A-E957-47EB-971B-8F54F380F7CE}" dt="2020-03-10T15:59:04.457" v="150" actId="20577"/>
        <pc:sldMkLst>
          <pc:docMk/>
          <pc:sldMk cId="1478488146" sldId="304"/>
        </pc:sldMkLst>
        <pc:spChg chg="mod">
          <ac:chgData name="Howarth, Judy" userId="88019a05-5656-4d0d-a3d1-1931a654ed73" providerId="ADAL" clId="{8B50358A-E957-47EB-971B-8F54F380F7CE}" dt="2020-03-10T15:59:04.457" v="150" actId="20577"/>
          <ac:spMkLst>
            <pc:docMk/>
            <pc:sldMk cId="1478488146" sldId="304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19.505" v="154" actId="20577"/>
        <pc:sldMkLst>
          <pc:docMk/>
          <pc:sldMk cId="130651525" sldId="307"/>
        </pc:sldMkLst>
        <pc:spChg chg="mod">
          <ac:chgData name="Howarth, Judy" userId="88019a05-5656-4d0d-a3d1-1931a654ed73" providerId="ADAL" clId="{8B50358A-E957-47EB-971B-8F54F380F7CE}" dt="2020-03-10T15:59:19.505" v="154" actId="20577"/>
          <ac:spMkLst>
            <pc:docMk/>
            <pc:sldMk cId="130651525" sldId="307"/>
            <ac:spMk id="4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24.609" v="158" actId="20577"/>
        <pc:sldMkLst>
          <pc:docMk/>
          <pc:sldMk cId="1380611736" sldId="308"/>
        </pc:sldMkLst>
        <pc:spChg chg="mod">
          <ac:chgData name="Howarth, Judy" userId="88019a05-5656-4d0d-a3d1-1931a654ed73" providerId="ADAL" clId="{8B50358A-E957-47EB-971B-8F54F380F7CE}" dt="2020-03-10T15:59:24.609" v="158" actId="20577"/>
          <ac:spMkLst>
            <pc:docMk/>
            <pc:sldMk cId="1380611736" sldId="30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6:43.844" v="79" actId="2696"/>
        <pc:sldMkLst>
          <pc:docMk/>
          <pc:sldMk cId="681192042" sldId="309"/>
        </pc:sldMkLst>
      </pc:sldChg>
      <pc:sldChg chg="del">
        <pc:chgData name="Howarth, Judy" userId="88019a05-5656-4d0d-a3d1-1931a654ed73" providerId="ADAL" clId="{8B50358A-E957-47EB-971B-8F54F380F7CE}" dt="2020-03-10T15:59:49.554" v="173" actId="2696"/>
        <pc:sldMkLst>
          <pc:docMk/>
          <pc:sldMk cId="820579147" sldId="310"/>
        </pc:sldMkLst>
      </pc:sldChg>
      <pc:sldChg chg="modSp">
        <pc:chgData name="Howarth, Judy" userId="88019a05-5656-4d0d-a3d1-1931a654ed73" providerId="ADAL" clId="{8B50358A-E957-47EB-971B-8F54F380F7CE}" dt="2020-03-10T15:58:00.728" v="112" actId="20577"/>
        <pc:sldMkLst>
          <pc:docMk/>
          <pc:sldMk cId="1094474590" sldId="311"/>
        </pc:sldMkLst>
        <pc:spChg chg="mod">
          <ac:chgData name="Howarth, Judy" userId="88019a05-5656-4d0d-a3d1-1931a654ed73" providerId="ADAL" clId="{8B50358A-E957-47EB-971B-8F54F380F7CE}" dt="2020-03-10T15:58:00.728" v="112" actId="20577"/>
          <ac:spMkLst>
            <pc:docMk/>
            <pc:sldMk cId="1094474590" sldId="311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94C1A8-DC4B-4329-AF88-FD913597DE85}" type="datetimeFigureOut">
              <a:rPr lang="en-US" smtClean="0"/>
              <a:t>6/21/25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073E54-D085-4E2E-B9A5-A53D7E519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0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6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Book Title</a:t>
            </a:r>
          </a:p>
        </p:txBody>
      </p:sp>
      <p:sp>
        <p:nvSpPr>
          <p:cNvPr id="2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1752600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Edition</a:t>
            </a:r>
          </a:p>
        </p:txBody>
      </p:sp>
      <p:sp>
        <p:nvSpPr>
          <p:cNvPr id="27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2362200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82637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7620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5240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900" b="1" i="0" dirty="0">
                <a:latin typeface="Source Sans Pro" charset="0"/>
                <a:ea typeface="Source Sans Pro" charset="0"/>
                <a:cs typeface="Source Sans Pro" charset="0"/>
              </a:rPr>
              <a:t>Third Edition</a:t>
            </a:r>
            <a:endParaRPr lang="en-US" dirty="0"/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b="0" i="0" dirty="0">
                <a:latin typeface="Source Sans Pro" charset="0"/>
                <a:ea typeface="Source Sans Pro" charset="0"/>
                <a:cs typeface="Source Sans Pro" charset="0"/>
              </a:rPr>
              <a:t>David Klein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699" y="777241"/>
            <a:ext cx="11391901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3" name="COBBL"/>
          <p:cNvSpPr>
            <a:spLocks noGrp="1"/>
          </p:cNvSpPr>
          <p:nvPr>
            <p:ph sz="quarter" idx="10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5275" indent="-295275">
              <a:buClr>
                <a:schemeClr val="accent2"/>
              </a:buClr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6693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BL 2-co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 numCol="2" spcCol="548640"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Two-Column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r>
              <a:rPr lang="en-US" dirty="0"/>
              <a:t>This is Another Heading</a:t>
            </a:r>
          </a:p>
          <a:p>
            <a:pPr lvl="0"/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936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Numbered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8642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0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0"/>
            <a:r>
              <a:rPr lang="en-US" dirty="0"/>
              <a:t>1.2	It is One-column Only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10.6	Outline Items Usually Have No Ending Punctuation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2357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3790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465138" indent="-465138">
              <a:buClr>
                <a:schemeClr val="accent2"/>
              </a:buClr>
              <a:buFont typeface="+mj-lt"/>
              <a:buAutoNum type="arabicPeriod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for One-Column and single number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343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3434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1143000" indent="-292608">
              <a:buClr>
                <a:schemeClr val="accent2"/>
              </a:buClr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1143000" marR="0" indent="-29260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</a:t>
            </a:r>
          </a:p>
          <a:p>
            <a:pPr lvl="0"/>
            <a:r>
              <a:rPr lang="en-US" dirty="0"/>
              <a:t>10.2	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lvl="2"/>
            <a:r>
              <a:rPr lang="en-US" dirty="0"/>
              <a:t>Special Feature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426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with No Numbers and One-column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403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 numCol="2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Two-Column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05187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1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This Is a Sample Outline for Two-Column (2 Boxes) and Double-numbered</a:t>
            </a:r>
          </a:p>
          <a:p>
            <a:pPr lvl="0"/>
            <a:r>
              <a:rPr lang="en-US" dirty="0"/>
              <a:t>It is Two-column 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Double-numbered</a:t>
            </a:r>
          </a:p>
        </p:txBody>
      </p:sp>
      <p:sp>
        <p:nvSpPr>
          <p:cNvPr id="7" name="COBNL2"/>
          <p:cNvSpPr>
            <a:spLocks noGrp="1"/>
          </p:cNvSpPr>
          <p:nvPr>
            <p:ph sz="quarter" idx="15" hasCustomPrompt="1"/>
          </p:nvPr>
        </p:nvSpPr>
        <p:spPr>
          <a:xfrm>
            <a:off x="6356349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41006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/>
            </a:lvl1pPr>
            <a:lvl2pPr marL="457200" indent="-446088">
              <a:spcBef>
                <a:spcPts val="2000"/>
              </a:spcBef>
              <a:buFont typeface="+mj-lt"/>
              <a:buNone/>
              <a:tabLst/>
              <a:defRPr sz="2800">
                <a:solidFill>
                  <a:schemeClr val="accent2"/>
                </a:solidFill>
              </a:defRPr>
            </a:lvl2pPr>
            <a:lvl3pPr marL="688975" indent="-400050">
              <a:spcBef>
                <a:spcPts val="1000"/>
              </a:spcBef>
              <a:buClr>
                <a:schemeClr val="accent2"/>
              </a:buClr>
              <a:buFont typeface="+mj-lt"/>
              <a:buAutoNum type="arabicPeriod"/>
              <a:tabLst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This Is a Sample Outline with No Numbers</a:t>
            </a:r>
          </a:p>
          <a:p>
            <a:pPr lvl="1"/>
            <a:r>
              <a:rPr lang="en-US" dirty="0"/>
              <a:t>Learning Objective</a:t>
            </a:r>
          </a:p>
          <a:p>
            <a:pPr lvl="2"/>
            <a:r>
              <a:rPr lang="en-US" dirty="0"/>
              <a:t>Describe what racial &amp; ethnic group make up Latin America.</a:t>
            </a:r>
          </a:p>
          <a:p>
            <a:pPr lvl="2"/>
            <a:r>
              <a:rPr lang="en-US" dirty="0"/>
              <a:t>Explain Latin American agricultural systems.</a:t>
            </a:r>
          </a:p>
          <a:p>
            <a:pPr lvl="2"/>
            <a:r>
              <a:rPr lang="en-US" dirty="0"/>
              <a:t>Critically evaluate models of biodiversity conservation in the Latin American context.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©2017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563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lus 2 columns in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C9ADD40-E72D-754E-8872-0700492B323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43" y="1594115"/>
            <a:ext cx="5492749" cy="4583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 or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FE47AB5-328A-AF4D-81CF-19E66E99893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5405" y="1594115"/>
            <a:ext cx="5482167" cy="4583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 or image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C706D-0964-7842-B7B8-C5D73370052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©2018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41518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lus 4 Content 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2343F28-B656-D843-A760-6D031A946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4E2AA6A-8EB2-6844-839C-FC05A2A7CF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42384" y="1594379"/>
            <a:ext cx="5484283" cy="42333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or image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70A9D46-13B8-A449-861A-D9A62A3EB8B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2384" y="5827714"/>
            <a:ext cx="5484283" cy="446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5D5F048-83BA-BD49-94A8-0FBCAFBFC8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54751" y="1594379"/>
            <a:ext cx="5482167" cy="42333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or image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AE4F9B1-309D-3D41-90C3-2C1290FCB67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4751" y="5827714"/>
            <a:ext cx="5482167" cy="454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060C1AE-BC41-9B4C-9B42-E70BD72057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C706D-0964-7842-B7B8-C5D73370052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52F3339-56D5-664E-9BF8-952FA727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©2018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96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lus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04750B-87C8-BA49-9BD3-C465B46973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32AC4F3A-7D5E-944E-BEF6-CD50CC99DF6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43344" y="1594379"/>
            <a:ext cx="11293573" cy="461115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or image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66F2D1A-EA5C-184A-BE9A-2DC2ECFCA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C706D-0964-7842-B7B8-C5D73370052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81AF98-9E5D-F047-9DF1-095D423D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©2018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31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9" name="LON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957104EA-F2AF-1046-9253-EE8D978719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823214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7" name="LOB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2608" indent="-292608">
              <a:buClr>
                <a:schemeClr val="accent2"/>
              </a:buClr>
              <a:buFont typeface="Arial" charset="0"/>
              <a:buChar char="•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7718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/>
            </a:lvl1pPr>
            <a:lvl2pPr marL="809625" indent="-460375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tabLst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events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2438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2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1.1 Periodicity Assumption</a:t>
            </a:r>
          </a:p>
        </p:txBody>
      </p:sp>
      <p:sp>
        <p:nvSpPr>
          <p:cNvPr id="12" name="Question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12700" indent="0">
              <a:spcBef>
                <a:spcPts val="1000"/>
              </a:spcBef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03275" indent="-790575">
              <a:buNone/>
              <a:tabLst/>
              <a:defRPr sz="2800" b="0" i="0"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a.	Companies record events that change their financial statements in the period in which events occur, even if cash was not exchanged.</a:t>
            </a:r>
          </a:p>
          <a:p>
            <a:pPr lvl="2"/>
            <a:r>
              <a:rPr lang="en-US" dirty="0"/>
              <a:t>✔️b.	Companies recognize revenue in the period in which the performance obligation is satisfied.</a:t>
            </a:r>
          </a:p>
          <a:p>
            <a:pPr lvl="1"/>
            <a:r>
              <a:rPr lang="en-US" dirty="0"/>
              <a:t>c.	This basis is accord with generally accepted accounting principles.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52393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8351"/>
            <a:ext cx="11379200" cy="990599"/>
          </a:xfrm>
        </p:spPr>
        <p:txBody>
          <a:bodyPr/>
          <a:lstStyle/>
          <a:p>
            <a:r>
              <a:rPr lang="en-US"/>
              <a:t>Language</a:t>
            </a:r>
            <a:endParaRPr lang="en-US" dirty="0"/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406400" y="5867400"/>
            <a:ext cx="113792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Calibri" charset="0"/>
                <a:ea typeface="Calibri" charset="0"/>
                <a:cs typeface="Calibri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00609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914402"/>
            <a:ext cx="11379200" cy="9905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Anatomy and Physiology Defined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905000"/>
            <a:ext cx="11379200" cy="39624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Anatomy is the science of structure and the relationships among structures.</a:t>
            </a:r>
          </a:p>
          <a:p>
            <a:pPr lvl="0"/>
            <a:r>
              <a:rPr lang="en-US" dirty="0"/>
              <a:t>Physiology is the science of body functions, that is, how the body parts 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62271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igure caption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771030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539791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4760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132984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350051"/>
            <a:ext cx="11379200" cy="30997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9"/>
            <a:ext cx="11379200" cy="4452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06400" y="5780676"/>
            <a:ext cx="11379200" cy="46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4.5 Figure title placeholder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6737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06400" y="5920581"/>
            <a:ext cx="11379200" cy="435770"/>
          </a:xfrm>
          <a:prstGeom prst="rect">
            <a:avLst/>
          </a:prstGeom>
        </p:spPr>
        <p:txBody>
          <a:bodyPr/>
          <a:lstStyle>
            <a:lvl1pPr algn="ctr"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Image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8"/>
            <a:ext cx="11379200" cy="49704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38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93699" y="777242"/>
            <a:ext cx="11391901" cy="975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0CDC4A-C47E-0652-1C8B-C2B65878F02F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115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2" r:id="rId2"/>
    <p:sldLayoutId id="2147483956" r:id="rId3"/>
    <p:sldLayoutId id="2147483955" r:id="rId4"/>
    <p:sldLayoutId id="2147483957" r:id="rId5"/>
    <p:sldLayoutId id="2147483959" r:id="rId6"/>
    <p:sldLayoutId id="2147483958" r:id="rId7"/>
    <p:sldLayoutId id="2147483960" r:id="rId8"/>
    <p:sldLayoutId id="2147483961" r:id="rId9"/>
    <p:sldLayoutId id="2147483962" r:id="rId10"/>
    <p:sldLayoutId id="2147483963" r:id="rId11"/>
    <p:sldLayoutId id="2147483980" r:id="rId12"/>
    <p:sldLayoutId id="2147483981" r:id="rId13"/>
    <p:sldLayoutId id="2147483982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43714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C8F44-6301-7B93-3483-E24FDA33D693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1193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6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8272" y="762002"/>
            <a:ext cx="11387328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E8683-0089-E2BA-4390-62E21E61780F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21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63423-88B5-F1E9-3B13-3A1DB3D281E5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169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016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90934-0C27-E23D-DD61-054F91BC94EC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26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008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29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3-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E812FF-0D0E-2048-E6D7-0C61F62F5D9B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52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Analysis and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/>
              <a:t>Eighth Edition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/>
              <a:t>Alan Dennis, Barbara Wixom, Roberta M. Roth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/>
              <a:t>Requirements Determination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the analysis phase of the SDLC.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Describe the content and purpose of the requirements definition statement.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Classify requirements correctly as business, user, functional, or nonfunctional requirements.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 the requirement elicitation techniques of interviews, JAD sessions, questionnaires, document analysis, and observation.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the role that each requirement elicitation technique plays in determining requirements.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Describe several analysis strategies that can help the analyst discover requirements.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3-</a:t>
            </a:r>
            <a:fld id="{957104EA-F2AF-1046-9253-EE8D978719B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Analysis Phase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Goal is to develop a clear understanding of the new system’s requirements</a:t>
            </a:r>
          </a:p>
          <a:p>
            <a:pPr lvl="1"/>
            <a:r>
              <a:rPr lang="en-US" dirty="0"/>
              <a:t>Understand the “As-Is” system</a:t>
            </a:r>
          </a:p>
          <a:p>
            <a:pPr lvl="1"/>
            <a:r>
              <a:rPr lang="en-US" dirty="0"/>
              <a:t>Identify Improvements</a:t>
            </a:r>
          </a:p>
          <a:p>
            <a:pPr lvl="1"/>
            <a:r>
              <a:rPr lang="en-US" dirty="0"/>
              <a:t>Develop the “To-Be” system concept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prstClr val="black"/>
                </a:solidFill>
              </a:rPr>
              <a:t>Use critical thinking skills to determine the true causes of problems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prstClr val="black"/>
                </a:solidFill>
              </a:rPr>
              <a:t>Apply knowledge of IS and business to outline ways to solve the problems in the new system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prstClr val="black"/>
                </a:solidFill>
              </a:rPr>
              <a:t>To move the users “from here to there,” an analyst needs strong critical thinking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6018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Analysis Phase </a:t>
            </a:r>
            <a:r>
              <a:rPr lang="en-US" sz="2000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unrealistic to expect the true requirements to be delivered during a few conversations with the business users</a:t>
            </a:r>
          </a:p>
          <a:p>
            <a:r>
              <a:rPr lang="en-US" dirty="0"/>
              <a:t>A number of techniques and tools can be used by the analyst to facilitate this process of discovering requirements</a:t>
            </a:r>
          </a:p>
          <a:p>
            <a:r>
              <a:rPr lang="en-US" dirty="0"/>
              <a:t>The final deliverable of the analysis phase is the </a:t>
            </a:r>
            <a:r>
              <a:rPr lang="en-US" b="1" i="1" dirty="0"/>
              <a:t>system proposal</a:t>
            </a:r>
          </a:p>
          <a:p>
            <a:pPr lvl="1"/>
            <a:r>
              <a:rPr lang="en-US" dirty="0"/>
              <a:t>This is a document compiling the detailed requirements definition statement, use cases, process models, and data model together with a revised feasibility analysis and work plan</a:t>
            </a:r>
          </a:p>
          <a:p>
            <a:r>
              <a:rPr lang="en-US" dirty="0"/>
              <a:t>At the conclusion of the analysis phase, the system proposal is presented to the approval committee, usually in the form of a </a:t>
            </a:r>
            <a:r>
              <a:rPr lang="en-US" b="1" i="1" dirty="0"/>
              <a:t>system walk-through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Analysis Phase </a:t>
            </a:r>
            <a:r>
              <a:rPr lang="en-US" sz="2000" dirty="0"/>
              <a:t>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moving into the design phase, the project’s </a:t>
            </a:r>
            <a:r>
              <a:rPr lang="en-US" b="1" i="1" dirty="0"/>
              <a:t>business value </a:t>
            </a:r>
            <a:r>
              <a:rPr lang="en-US" dirty="0"/>
              <a:t>should be reviewed to ensure it remains positive</a:t>
            </a:r>
          </a:p>
          <a:p>
            <a:r>
              <a:rPr lang="en-US" dirty="0"/>
              <a:t>The line between the analysis and design phases is very blurry</a:t>
            </a:r>
          </a:p>
          <a:p>
            <a:r>
              <a:rPr lang="en-US" dirty="0"/>
              <a:t>In many ways, determining requirements is the single-most critical aspect of the entire SDLC</a:t>
            </a:r>
          </a:p>
          <a:p>
            <a:r>
              <a:rPr lang="en-US" dirty="0"/>
              <a:t>During requirements determination, the to-be system concept is easy to change because little work has been done yet</a:t>
            </a:r>
          </a:p>
          <a:p>
            <a:r>
              <a:rPr lang="en-US" dirty="0"/>
              <a:t>As the system moves through the subsequent SDLC phases, it becomes harder and harder to return to requirements determination and make major changes because of all the rework that is involved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98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Determination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i="1" dirty="0"/>
              <a:t>Requirements</a:t>
            </a:r>
            <a:r>
              <a:rPr lang="en-US" dirty="0"/>
              <a:t> determination is performed to transform the system request’s high-level statement of business requirements into a more detailed, precise list of what the new system must do</a:t>
            </a:r>
          </a:p>
          <a:p>
            <a:r>
              <a:rPr lang="en-US" dirty="0"/>
              <a:t>This detailed list of requirements is supported, confirmed, and clarified by the other activities of the analysis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3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Requirement?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A </a:t>
            </a:r>
            <a:r>
              <a:rPr lang="en-US" sz="2600" b="1" i="1" dirty="0">
                <a:solidFill>
                  <a:prstClr val="black"/>
                </a:solidFill>
              </a:rPr>
              <a:t>requirement</a:t>
            </a:r>
            <a:r>
              <a:rPr lang="en-US" sz="2600" dirty="0">
                <a:solidFill>
                  <a:prstClr val="black"/>
                </a:solidFill>
              </a:rPr>
              <a:t> is a statement of what the system must do or what characteristics it needs to have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Types of requirements: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What the business needs (business requirements)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What the users need to do (user requirements)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What the software should do (functional requirements)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Characteristics the system should have (nonfunctional requirements)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How the system should be built (system requirements)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238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In the systems request, there are statements that describe the reasons for proposing the systems development project</a:t>
            </a:r>
          </a:p>
          <a:p>
            <a:r>
              <a:rPr lang="en-US" dirty="0"/>
              <a:t>These statements reflect the </a:t>
            </a:r>
            <a:r>
              <a:rPr lang="en-US" b="1" i="1" dirty="0"/>
              <a:t>business requirements </a:t>
            </a:r>
            <a:r>
              <a:rPr lang="en-US" dirty="0"/>
              <a:t>that this system will fulfill</a:t>
            </a:r>
          </a:p>
          <a:p>
            <a:r>
              <a:rPr lang="en-US" dirty="0"/>
              <a:t>When the systems development project is complete, success will be measured by evaluating whether the stated business requirements have been achieved</a:t>
            </a:r>
          </a:p>
          <a:p>
            <a:pPr lvl="1"/>
            <a:r>
              <a:rPr lang="en-US" dirty="0"/>
              <a:t>Therefore, they provide the overall direction for the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36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/>
              <a:t>What the user needs to do to complete a needed job or task</a:t>
            </a:r>
          </a:p>
          <a:p>
            <a:r>
              <a:rPr lang="en-US"/>
              <a:t>Focus on user tasks that are integral to business operations</a:t>
            </a:r>
          </a:p>
          <a:p>
            <a:r>
              <a:rPr lang="en-US"/>
              <a:t>Understanding user tasks helps reveal ways that the new system can support those tasks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62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process the system should perform as a part of supporting a user task, or</a:t>
            </a:r>
          </a:p>
          <a:p>
            <a:r>
              <a:rPr lang="en-US" dirty="0"/>
              <a:t>Information the system should provide as the user performs a task</a:t>
            </a:r>
          </a:p>
          <a:p>
            <a:r>
              <a:rPr lang="en-US" dirty="0"/>
              <a:t>Specify the support the system will provide to the user in fulfilling his/her work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547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FC90-4927-4C74-BA13-B0B310F0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on Functional Requirements</a:t>
            </a:r>
          </a:p>
        </p:txBody>
      </p:sp>
      <p:graphicFrame>
        <p:nvGraphicFramePr>
          <p:cNvPr id="7" name="Content Placeholder 6" descr="Table is accessible to screenreaders.">
            <a:extLst>
              <a:ext uri="{FF2B5EF4-FFF2-40B4-BE49-F238E27FC236}">
                <a16:creationId xmlns:a16="http://schemas.microsoft.com/office/drawing/2014/main" id="{1F4F6118-6193-40EA-9B9B-CC64DEA9094E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406400" y="1752600"/>
          <a:ext cx="1137920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098">
                  <a:extLst>
                    <a:ext uri="{9D8B030D-6E8A-4147-A177-3AD203B41FA5}">
                      <a16:colId xmlns:a16="http://schemas.microsoft.com/office/drawing/2014/main" val="902367344"/>
                    </a:ext>
                  </a:extLst>
                </a:gridCol>
                <a:gridCol w="3467886">
                  <a:extLst>
                    <a:ext uri="{9D8B030D-6E8A-4147-A177-3AD203B41FA5}">
                      <a16:colId xmlns:a16="http://schemas.microsoft.com/office/drawing/2014/main" val="1411613137"/>
                    </a:ext>
                  </a:extLst>
                </a:gridCol>
                <a:gridCol w="5709217">
                  <a:extLst>
                    <a:ext uri="{9D8B030D-6E8A-4147-A177-3AD203B41FA5}">
                      <a16:colId xmlns:a16="http://schemas.microsoft.com/office/drawing/2014/main" val="638247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Functional</a:t>
                      </a:r>
                    </a:p>
                    <a:p>
                      <a:r>
                        <a:rPr lang="en-US" sz="12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Requirement</a:t>
                      </a:r>
                      <a:endParaRPr lang="en-US" sz="1200" b="1" dirty="0"/>
                    </a:p>
                  </a:txBody>
                  <a:tcPr marL="125300" marR="1253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1200" b="1" dirty="0"/>
                    </a:p>
                  </a:txBody>
                  <a:tcPr marL="125300" marR="12530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Examples</a:t>
                      </a:r>
                      <a:endParaRPr lang="en-US" sz="1200" b="1" dirty="0"/>
                    </a:p>
                  </a:txBody>
                  <a:tcPr marL="125300" marR="125300" anchor="b"/>
                </a:tc>
                <a:extLst>
                  <a:ext uri="{0D108BD9-81ED-4DB2-BD59-A6C34878D82A}">
                    <a16:rowId xmlns:a16="http://schemas.microsoft.com/office/drawing/2014/main" val="4206726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Process-oriented</a:t>
                      </a: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300" marR="125300"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process the system must perform;</a:t>
                      </a:r>
                    </a:p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process the system must do</a:t>
                      </a: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300" marR="12530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must allow registered customers to review their own order history for the past 3 years.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must check incoming customer orders for inventory availability.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should allow students to view a course schedule while registering for classes.</a:t>
                      </a:r>
                    </a:p>
                  </a:txBody>
                  <a:tcPr marL="125300" marR="125300"/>
                </a:tc>
                <a:extLst>
                  <a:ext uri="{0D108BD9-81ED-4DB2-BD59-A6C34878D82A}">
                    <a16:rowId xmlns:a16="http://schemas.microsoft.com/office/drawing/2014/main" val="52553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Information-oriented</a:t>
                      </a:r>
                      <a:endParaRPr lang="en-US" sz="1200" dirty="0"/>
                    </a:p>
                  </a:txBody>
                  <a:tcPr marL="125300" marR="1253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Information the system must contain</a:t>
                      </a:r>
                      <a:endParaRPr lang="en-US" sz="1200" dirty="0"/>
                    </a:p>
                  </a:txBody>
                  <a:tcPr marL="125300" marR="12530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must retain customer order history for 3 years.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must include real-time inventory levels at all warehouses.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must include budgeted and actual sales and expense amounts for the current year and 3 previous years.</a:t>
                      </a:r>
                      <a:endParaRPr lang="en-US" sz="1200" dirty="0"/>
                    </a:p>
                  </a:txBody>
                  <a:tcPr marL="125300" marR="125300"/>
                </a:tc>
                <a:extLst>
                  <a:ext uri="{0D108BD9-81ED-4DB2-BD59-A6C34878D82A}">
                    <a16:rowId xmlns:a16="http://schemas.microsoft.com/office/drawing/2014/main" val="37963585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08B68-F842-4569-9EE3-96E7928E2B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3-</a:t>
            </a:r>
            <a:fld id="{D06C706D-0964-7842-B7B8-C5D733700528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B77E0-0611-4957-9096-7B2680965C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244440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Nonfunctional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Nonfunctional requirements are “the quality attributes, design, and implementation constraints, and external interfaces which a product must have”</a:t>
            </a:r>
          </a:p>
          <a:p>
            <a:r>
              <a:rPr lang="en-US" dirty="0"/>
              <a:t>This requirement category includes important behavioral properties that the system must have</a:t>
            </a:r>
          </a:p>
          <a:p>
            <a:r>
              <a:rPr lang="en-US" dirty="0"/>
              <a:t>Behavioral properties the system must have</a:t>
            </a:r>
          </a:p>
          <a:p>
            <a:pPr lvl="1"/>
            <a:r>
              <a:rPr lang="en-US" dirty="0"/>
              <a:t>Operational – physical and technical operating environment</a:t>
            </a:r>
          </a:p>
          <a:p>
            <a:pPr lvl="1"/>
            <a:r>
              <a:rPr lang="en-US" dirty="0"/>
              <a:t>Performance – speed, capacity, and reliability needs</a:t>
            </a:r>
          </a:p>
          <a:p>
            <a:pPr lvl="1"/>
            <a:r>
              <a:rPr lang="en-US" dirty="0"/>
              <a:t>Security – access restrictions, needed safeguards</a:t>
            </a:r>
          </a:p>
          <a:p>
            <a:pPr lvl="1"/>
            <a:r>
              <a:rPr lang="en-US" dirty="0"/>
              <a:t>Cultural and political – issues that will affect the final system</a:t>
            </a:r>
          </a:p>
          <a:p>
            <a:r>
              <a:rPr lang="en-US" dirty="0"/>
              <a:t>Nonfunctional requirements are discussed in Chapter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213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B00A4-0B80-47FB-8941-B2F1B06FE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More on Nonfunctional Requirements </a:t>
            </a:r>
            <a:r>
              <a:rPr lang="en-US" sz="2700" dirty="0"/>
              <a:t>(1 of 2)</a:t>
            </a:r>
          </a:p>
        </p:txBody>
      </p:sp>
      <p:graphicFrame>
        <p:nvGraphicFramePr>
          <p:cNvPr id="7" name="Content Placeholder 13" descr="Table is accessible to screenreaders.">
            <a:extLst>
              <a:ext uri="{FF2B5EF4-FFF2-40B4-BE49-F238E27FC236}">
                <a16:creationId xmlns:a16="http://schemas.microsoft.com/office/drawing/2014/main" id="{AAD3B1BC-6296-4D51-AC0A-8177502F7A7B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406400" y="1752600"/>
          <a:ext cx="11379797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184">
                  <a:extLst>
                    <a:ext uri="{9D8B030D-6E8A-4147-A177-3AD203B41FA5}">
                      <a16:colId xmlns:a16="http://schemas.microsoft.com/office/drawing/2014/main" val="1483863086"/>
                    </a:ext>
                  </a:extLst>
                </a:gridCol>
                <a:gridCol w="3867755">
                  <a:extLst>
                    <a:ext uri="{9D8B030D-6E8A-4147-A177-3AD203B41FA5}">
                      <a16:colId xmlns:a16="http://schemas.microsoft.com/office/drawing/2014/main" val="393266256"/>
                    </a:ext>
                  </a:extLst>
                </a:gridCol>
                <a:gridCol w="5414858">
                  <a:extLst>
                    <a:ext uri="{9D8B030D-6E8A-4147-A177-3AD203B41FA5}">
                      <a16:colId xmlns:a16="http://schemas.microsoft.com/office/drawing/2014/main" val="2521028402"/>
                    </a:ext>
                  </a:extLst>
                </a:gridCol>
              </a:tblGrid>
              <a:tr h="224466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Nonfunctional Requirement</a:t>
                      </a:r>
                      <a:endParaRPr lang="en-US" sz="1400" dirty="0"/>
                    </a:p>
                  </a:txBody>
                  <a:tcPr marL="130644" marR="130644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1400" dirty="0"/>
                    </a:p>
                  </a:txBody>
                  <a:tcPr marL="130644" marR="130644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Examples</a:t>
                      </a:r>
                      <a:endParaRPr lang="en-US" sz="1400" dirty="0"/>
                    </a:p>
                  </a:txBody>
                  <a:tcPr marL="130644" marR="130644" anchor="b"/>
                </a:tc>
                <a:extLst>
                  <a:ext uri="{0D108BD9-81ED-4DB2-BD59-A6C34878D82A}">
                    <a16:rowId xmlns:a16="http://schemas.microsoft.com/office/drawing/2014/main" val="153705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Operational</a:t>
                      </a:r>
                      <a:endParaRPr lang="en-US" sz="1400" dirty="0"/>
                    </a:p>
                  </a:txBody>
                  <a:tcPr marL="130644" marR="130644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physical and technical environments in which the system will operate</a:t>
                      </a:r>
                      <a:endParaRPr lang="en-US" sz="1400" dirty="0"/>
                    </a:p>
                  </a:txBody>
                  <a:tcPr marL="130644" marR="130644"/>
                </a:tc>
                <a:tc>
                  <a:txBody>
                    <a:bodyPr/>
                    <a:lstStyle/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will run on Andriod mobile devices.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should be able to integrate with the existing inventory system.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should be compatible with any Web browser.</a:t>
                      </a:r>
                      <a:endParaRPr lang="en-US" sz="1400" dirty="0"/>
                    </a:p>
                  </a:txBody>
                  <a:tcPr marL="130644" marR="130644"/>
                </a:tc>
                <a:extLst>
                  <a:ext uri="{0D108BD9-81ED-4DB2-BD59-A6C34878D82A}">
                    <a16:rowId xmlns:a16="http://schemas.microsoft.com/office/drawing/2014/main" val="3693991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Performance</a:t>
                      </a:r>
                      <a:endParaRPr lang="en-US" sz="1400" dirty="0"/>
                    </a:p>
                  </a:txBody>
                  <a:tcPr marL="130644" marR="130644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speed, capacity, and reliability of the system</a:t>
                      </a:r>
                      <a:endParaRPr lang="en-US" sz="1400" dirty="0"/>
                    </a:p>
                  </a:txBody>
                  <a:tcPr marL="130644" marR="130644"/>
                </a:tc>
                <a:tc>
                  <a:txBody>
                    <a:bodyPr/>
                    <a:lstStyle/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Any interaction between the user and the system should not exceed 2 seconds.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downloads new status parameters within 5 minutes of a change.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should be available for use 24 hours per day, 365 days per year.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supports 300 simultaneous users from 9–11 a.m.; 150 simultaneous users at all other times.</a:t>
                      </a:r>
                      <a:endParaRPr lang="en-US" sz="1400" dirty="0"/>
                    </a:p>
                  </a:txBody>
                  <a:tcPr marL="130644" marR="130644"/>
                </a:tc>
                <a:extLst>
                  <a:ext uri="{0D108BD9-81ED-4DB2-BD59-A6C34878D82A}">
                    <a16:rowId xmlns:a16="http://schemas.microsoft.com/office/drawing/2014/main" val="63168113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9636B-35A8-4D4C-83F9-490C6AF299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3-</a:t>
            </a:r>
            <a:fld id="{D06C706D-0964-7842-B7B8-C5D733700528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E84AF-FCCE-4D27-84D5-F086EC13E6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66749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B00A4-0B80-47FB-8941-B2F1B06FE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More on Nonfunctional Requirements </a:t>
            </a:r>
            <a:r>
              <a:rPr lang="en-US" sz="2700" dirty="0"/>
              <a:t>(2 of 2)</a:t>
            </a:r>
          </a:p>
        </p:txBody>
      </p:sp>
      <p:graphicFrame>
        <p:nvGraphicFramePr>
          <p:cNvPr id="14" name="Content Placeholder 13" descr="Table is accessible to screenreaders.">
            <a:extLst>
              <a:ext uri="{FF2B5EF4-FFF2-40B4-BE49-F238E27FC236}">
                <a16:creationId xmlns:a16="http://schemas.microsoft.com/office/drawing/2014/main" id="{AAD3B1BC-6296-4D51-AC0A-8177502F7A7B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406400" y="1752600"/>
          <a:ext cx="1138036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2061">
                  <a:extLst>
                    <a:ext uri="{9D8B030D-6E8A-4147-A177-3AD203B41FA5}">
                      <a16:colId xmlns:a16="http://schemas.microsoft.com/office/drawing/2014/main" val="1483863086"/>
                    </a:ext>
                  </a:extLst>
                </a:gridCol>
                <a:gridCol w="3508105">
                  <a:extLst>
                    <a:ext uri="{9D8B030D-6E8A-4147-A177-3AD203B41FA5}">
                      <a16:colId xmlns:a16="http://schemas.microsoft.com/office/drawing/2014/main" val="393266256"/>
                    </a:ext>
                  </a:extLst>
                </a:gridCol>
                <a:gridCol w="5220199">
                  <a:extLst>
                    <a:ext uri="{9D8B030D-6E8A-4147-A177-3AD203B41FA5}">
                      <a16:colId xmlns:a16="http://schemas.microsoft.com/office/drawing/2014/main" val="2521028402"/>
                    </a:ext>
                  </a:extLst>
                </a:gridCol>
              </a:tblGrid>
              <a:tr h="224466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Nonfunctional Requirement</a:t>
                      </a:r>
                      <a:endParaRPr lang="en-US" sz="1400" dirty="0"/>
                    </a:p>
                  </a:txBody>
                  <a:tcPr marL="127568" marR="127568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1400" dirty="0"/>
                    </a:p>
                  </a:txBody>
                  <a:tcPr marL="127568" marR="127568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Examples</a:t>
                      </a:r>
                      <a:endParaRPr lang="en-US" sz="1400" dirty="0"/>
                    </a:p>
                  </a:txBody>
                  <a:tcPr marL="127568" marR="127568" anchor="b"/>
                </a:tc>
                <a:extLst>
                  <a:ext uri="{0D108BD9-81ED-4DB2-BD59-A6C34878D82A}">
                    <a16:rowId xmlns:a16="http://schemas.microsoft.com/office/drawing/2014/main" val="153705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Security</a:t>
                      </a:r>
                      <a:endParaRPr lang="en-US" sz="1400" dirty="0"/>
                    </a:p>
                  </a:txBody>
                  <a:tcPr marL="127568" marR="127568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Who has authorized access to the system under what circumstances</a:t>
                      </a:r>
                      <a:endParaRPr lang="en-US" sz="1400" dirty="0"/>
                    </a:p>
                  </a:txBody>
                  <a:tcPr marL="127568" marR="127568"/>
                </a:tc>
                <a:tc>
                  <a:txBody>
                    <a:bodyPr/>
                    <a:lstStyle/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Only direct managers can see staff personnel records.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Technicians can see only their own work assignments.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includes all available safeguards from viruses, worms, Trojan horses, etc.</a:t>
                      </a:r>
                      <a:endParaRPr lang="en-US" sz="1400" dirty="0"/>
                    </a:p>
                  </a:txBody>
                  <a:tcPr marL="127568" marR="127568"/>
                </a:tc>
                <a:extLst>
                  <a:ext uri="{0D108BD9-81ED-4DB2-BD59-A6C34878D82A}">
                    <a16:rowId xmlns:a16="http://schemas.microsoft.com/office/drawing/2014/main" val="207722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Cultural and Political</a:t>
                      </a:r>
                      <a:endParaRPr lang="en-US" sz="1400" dirty="0"/>
                    </a:p>
                  </a:txBody>
                  <a:tcPr marL="127568" marR="127568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Cultural and political factors and legal requirements that affect the system</a:t>
                      </a:r>
                      <a:endParaRPr lang="en-US" sz="1400" dirty="0"/>
                    </a:p>
                  </a:txBody>
                  <a:tcPr marL="127568" marR="127568"/>
                </a:tc>
                <a:tc>
                  <a:txBody>
                    <a:bodyPr/>
                    <a:lstStyle/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should be able to distinguish between US currency and currency from other nations.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Company policy is to buy computers only from Dell.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Country managers are permitted to authorize custom user interfaces within their units.</a:t>
                      </a:r>
                    </a:p>
                    <a:p>
                      <a:pPr marL="291600" indent="-2916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Personal information is protected in compliance with the Data Protection Act.</a:t>
                      </a:r>
                      <a:endParaRPr lang="en-US" sz="1400" dirty="0"/>
                    </a:p>
                  </a:txBody>
                  <a:tcPr marL="127568" marR="127568"/>
                </a:tc>
                <a:extLst>
                  <a:ext uri="{0D108BD9-81ED-4DB2-BD59-A6C34878D82A}">
                    <a16:rowId xmlns:a16="http://schemas.microsoft.com/office/drawing/2014/main" val="98137238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9636B-35A8-4D4C-83F9-490C6AF299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dirty="0">
                <a:solidFill>
                  <a:schemeClr val="tx1"/>
                </a:solidFill>
              </a:rPr>
              <a:t>-</a:t>
            </a:r>
            <a:fld id="{D06C706D-0964-7842-B7B8-C5D733700528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E84AF-FCCE-4D27-84D5-F086EC13E6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00167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of Determining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Both business and IT perspectives are needed to determine requirements during the analysis phase</a:t>
            </a:r>
          </a:p>
          <a:p>
            <a:pPr lvl="1"/>
            <a:r>
              <a:rPr lang="en-US" dirty="0"/>
              <a:t>Systems analysts may not understand the true business needs of the users</a:t>
            </a:r>
          </a:p>
          <a:p>
            <a:pPr lvl="1"/>
            <a:r>
              <a:rPr lang="en-US" dirty="0"/>
              <a:t>The business users may not be aware of promising new technologies</a:t>
            </a:r>
          </a:p>
          <a:p>
            <a:r>
              <a:rPr lang="en-US" dirty="0"/>
              <a:t>The analyst must also consider how best to elicit the requirements from the stakeholders</a:t>
            </a:r>
          </a:p>
          <a:p>
            <a:r>
              <a:rPr lang="en-US" dirty="0"/>
              <a:t>There are a variety of elicitation techniques that can be used to acquire information</a:t>
            </a:r>
          </a:p>
          <a:p>
            <a:r>
              <a:rPr lang="en-US" dirty="0"/>
              <a:t>The evolution of the requirements definition must be carefully managed</a:t>
            </a:r>
          </a:p>
          <a:p>
            <a:r>
              <a:rPr lang="en-US" dirty="0"/>
              <a:t>Keeping the requirements list tight and focused is a key to project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4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Requirements Definition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requirements definition statement is a straightforward text report that simply lists the functional and nonfunctional requirements in an outline format</a:t>
            </a:r>
          </a:p>
          <a:p>
            <a:pPr lvl="1"/>
            <a:r>
              <a:rPr lang="en-US" dirty="0"/>
              <a:t>Usually just called the </a:t>
            </a:r>
            <a:r>
              <a:rPr lang="en-US" b="1" i="1" dirty="0"/>
              <a:t>requirements definition</a:t>
            </a:r>
          </a:p>
          <a:p>
            <a:r>
              <a:rPr lang="en-US" dirty="0"/>
              <a:t>Requirements are typically identified by numbering</a:t>
            </a:r>
          </a:p>
          <a:p>
            <a:r>
              <a:rPr lang="en-US" dirty="0"/>
              <a:t>Sometimes, requirements are prioritized on the requirements definition statement</a:t>
            </a:r>
          </a:p>
          <a:p>
            <a:r>
              <a:rPr lang="en-US" dirty="0"/>
              <a:t>The most obvious purpose of the requirements definition is to provide a clear statement of what the new system should do</a:t>
            </a:r>
          </a:p>
          <a:p>
            <a:r>
              <a:rPr lang="en-US" dirty="0"/>
              <a:t>A critically important purpose of the requirements definition is to define the scope of the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20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Functional Requirements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574259" y="1752600"/>
            <a:ext cx="7043482" cy="4495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8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Nonfunctional Requirements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111709" y="1752600"/>
            <a:ext cx="5968581" cy="4495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259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Elicitation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analyst knows that there is a problem to be solved and therefore must look for clues that uncover the solution</a:t>
            </a:r>
          </a:p>
          <a:p>
            <a:r>
              <a:rPr lang="en-US" dirty="0"/>
              <a:t>Unfortunately, the clues are not always obvious, so the analyst needs to notice details, talk with witnesses, and follow leads</a:t>
            </a:r>
          </a:p>
          <a:p>
            <a:r>
              <a:rPr lang="en-US" dirty="0"/>
              <a:t>The best analysts will thoroughly search for requirements using a variety of techniques and make sure that the current business processes and the needs for the new system are well understood before moving into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12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Elicitation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Use every interaction with managers and users to garner interest, support, and enthusiasm for project</a:t>
            </a:r>
          </a:p>
          <a:p>
            <a:r>
              <a:rPr lang="en-US" dirty="0"/>
              <a:t>Choose participants carefully</a:t>
            </a:r>
          </a:p>
          <a:p>
            <a:pPr lvl="1"/>
            <a:r>
              <a:rPr lang="en-US" b="1" i="1" dirty="0"/>
              <a:t>Stakeholders</a:t>
            </a:r>
            <a:r>
              <a:rPr lang="en-US" dirty="0"/>
              <a:t> are the people who can affect the system or who will be affected by the system</a:t>
            </a:r>
          </a:p>
          <a:p>
            <a:r>
              <a:rPr lang="en-US" dirty="0"/>
              <a:t>Make respectful use of people’s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26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Common Requirements Elicitation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Interviews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JAD sessions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Questionnaires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Observation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202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Most important and most used fact-finding technique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The systems analysts collects information from individuals face to 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Who should be interviewed? 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Managers in early project stages to get broad understanding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Staff can provide details and specifics later.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Political issues are important – may be necessary to interview influential people, even if they are not too knowledgeable</a:t>
            </a:r>
          </a:p>
          <a:p>
            <a:r>
              <a:rPr lang="en-US" sz="2600" dirty="0">
                <a:solidFill>
                  <a:prstClr val="black"/>
                </a:solidFill>
              </a:rPr>
              <a:t>Interview Structure</a:t>
            </a:r>
          </a:p>
          <a:p>
            <a:pPr lvl="1">
              <a:spcBef>
                <a:spcPts val="1000"/>
              </a:spcBef>
              <a:buSzPct val="100000"/>
            </a:pPr>
            <a:r>
              <a:rPr lang="en-US" dirty="0">
                <a:solidFill>
                  <a:prstClr val="black"/>
                </a:solidFill>
              </a:rPr>
              <a:t>Top-down  (broad to specific; most common)</a:t>
            </a:r>
          </a:p>
          <a:p>
            <a:pPr lvl="1">
              <a:spcBef>
                <a:spcPts val="1000"/>
              </a:spcBef>
              <a:buSzPct val="100000"/>
            </a:pPr>
            <a:r>
              <a:rPr lang="en-US" dirty="0">
                <a:solidFill>
                  <a:prstClr val="black"/>
                </a:solidFill>
              </a:rPr>
              <a:t>Bottom-up (specific to broad; useful for collecting details)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0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Questions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609085951"/>
              </p:ext>
            </p:extLst>
          </p:nvPr>
        </p:nvGraphicFramePr>
        <p:xfrm>
          <a:off x="406400" y="1752600"/>
          <a:ext cx="11379201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 of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Closed-Ended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 a specific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How many telephone orders are received per day?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How do customers place orders?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What information is missing from the monthly sales report?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Open-Ended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Seek a more wide- ranging response from the interviewee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What do you think about the way invoices are currently processed?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What are some of the problems you face on a daily basis?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What are some of the improvements you would like to see in the way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invoices are processed?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Probing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Follow up on what has just been discussed so that the interviewer can learn 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Why?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Can you give me an example?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Can you explain that in a bit more detail?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401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Interviewing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You should not ask questions about information that is readily available from other sources</a:t>
            </a:r>
          </a:p>
          <a:p>
            <a:r>
              <a:rPr lang="en-US" dirty="0"/>
              <a:t>Your interview questions should anticipate the type of information the interviewee is likely to know</a:t>
            </a:r>
          </a:p>
          <a:p>
            <a:r>
              <a:rPr lang="en-US" dirty="0"/>
              <a:t>No type of question is better than another</a:t>
            </a:r>
          </a:p>
          <a:p>
            <a:pPr lvl="1"/>
            <a:r>
              <a:rPr lang="en-US" dirty="0"/>
              <a:t>Usually a combination of questions is used during an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606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and Bottom-Up Questioning Strategies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637972" y="1752600"/>
            <a:ext cx="6916056" cy="4495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740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 as a Requirements Elicitation Technique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Interviewee can respond freely and openly to questions</a:t>
            </a:r>
          </a:p>
          <a:p>
            <a:r>
              <a:rPr lang="en-US" dirty="0"/>
              <a:t>Interviewee can be asked for more feedback</a:t>
            </a:r>
          </a:p>
          <a:p>
            <a:r>
              <a:rPr lang="en-US" dirty="0"/>
              <a:t>Questions can be adapted or reworded for each individual</a:t>
            </a:r>
          </a:p>
          <a:p>
            <a:r>
              <a:rPr lang="en-US" dirty="0"/>
              <a:t>Interviewee’s nonverbal communication can be observed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Weaknesses</a:t>
            </a:r>
          </a:p>
          <a:p>
            <a:r>
              <a:rPr lang="en-US" dirty="0"/>
              <a:t>Very time-consuming, and therefore costly, fact-finding approach</a:t>
            </a:r>
          </a:p>
          <a:p>
            <a:r>
              <a:rPr lang="en-US" dirty="0"/>
              <a:t>Success is highly dependent on the systems analyst's human relations skills</a:t>
            </a:r>
          </a:p>
          <a:p>
            <a:r>
              <a:rPr lang="en-US" dirty="0"/>
              <a:t>May be impractical due to the location of interviewees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36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for the Interview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You should have an interview plan that lists the topics/issues that you will ask in the appropriate order</a:t>
            </a:r>
          </a:p>
          <a:p>
            <a:r>
              <a:rPr lang="en-US" dirty="0"/>
              <a:t>Confirm the areas in which the interviewee has knowledge so you do not ask questions that they cannot answer</a:t>
            </a:r>
          </a:p>
          <a:p>
            <a:r>
              <a:rPr lang="en-US" dirty="0"/>
              <a:t>Structured interviews with closed-ended questions take more time to prepare than unstructured interviews</a:t>
            </a:r>
          </a:p>
          <a:p>
            <a:r>
              <a:rPr lang="en-US" dirty="0"/>
              <a:t>When you schedule the interview, inform the interviewee of the reason for the interview and the areas you will be discussing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698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Conducting the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first goal is to build rapport with the interviewee</a:t>
            </a:r>
          </a:p>
          <a:p>
            <a:r>
              <a:rPr lang="en-US" dirty="0"/>
              <a:t>It is critical to carefully record all the information that the interviewee provides</a:t>
            </a:r>
          </a:p>
          <a:p>
            <a:pPr lvl="1"/>
            <a:r>
              <a:rPr lang="en-US" dirty="0"/>
              <a:t>Take lots of notes</a:t>
            </a:r>
          </a:p>
          <a:p>
            <a:r>
              <a:rPr lang="en-US" dirty="0"/>
              <a:t>If you do not understand something, be sure to ask</a:t>
            </a:r>
          </a:p>
          <a:p>
            <a:pPr lvl="1"/>
            <a:r>
              <a:rPr lang="en-US" dirty="0"/>
              <a:t>Do not be afraid to ask “dumb questions”</a:t>
            </a:r>
          </a:p>
          <a:p>
            <a:r>
              <a:rPr lang="en-US" dirty="0"/>
              <a:t>Separate facts from opinion</a:t>
            </a:r>
          </a:p>
          <a:p>
            <a:r>
              <a:rPr lang="en-US" dirty="0"/>
              <a:t>As the interview draws to a close, give the interviewee time to ask questions or provide information that they thinks is important</a:t>
            </a:r>
          </a:p>
          <a:p>
            <a:r>
              <a:rPr lang="en-US" dirty="0"/>
              <a:t>Briefly explain what will happen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593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 interview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After the interview is over, the analyst needs to prepare an interview report</a:t>
            </a:r>
          </a:p>
          <a:p>
            <a:r>
              <a:rPr lang="en-US" dirty="0"/>
              <a:t>The </a:t>
            </a:r>
            <a:r>
              <a:rPr lang="en-US" b="1" i="1" dirty="0"/>
              <a:t>interview report </a:t>
            </a:r>
            <a:r>
              <a:rPr lang="en-US" dirty="0"/>
              <a:t>describes the information from the interview</a:t>
            </a:r>
          </a:p>
          <a:p>
            <a:r>
              <a:rPr lang="en-US" dirty="0"/>
              <a:t>It contains interview notes</a:t>
            </a:r>
          </a:p>
          <a:p>
            <a:r>
              <a:rPr lang="en-US" dirty="0"/>
              <a:t>Often, the interview report is sent to the interviewee with a request to read it and inform the analyst of clarifications or updates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09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Application Development (JAD)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/>
              <a:t>Joint Application Development </a:t>
            </a:r>
            <a:r>
              <a:rPr lang="en-US" dirty="0"/>
              <a:t>(JAD) is an information gathering technique that allows the project team, users, and management to work together to identify requirements for the system</a:t>
            </a:r>
          </a:p>
          <a:p>
            <a:r>
              <a:rPr lang="en-US" dirty="0"/>
              <a:t>Its goal is to produce complete requirements definition document</a:t>
            </a:r>
          </a:p>
          <a:p>
            <a:r>
              <a:rPr lang="en-US" dirty="0"/>
              <a:t>Directly involves project sponsor, key managers, and key users with systems analysts</a:t>
            </a:r>
          </a:p>
          <a:p>
            <a:r>
              <a:rPr lang="en-US" dirty="0"/>
              <a:t>Requires a trained facilitator</a:t>
            </a:r>
          </a:p>
          <a:p>
            <a:r>
              <a:rPr lang="en-US" dirty="0"/>
              <a:t>Requires a comfortable facility for long-term, intensive group work; preferably off-site</a:t>
            </a:r>
          </a:p>
          <a:p>
            <a:r>
              <a:rPr lang="en-US" dirty="0"/>
              <a:t>Expensive but valuable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50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 JAD or e-JAD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Any group activity may experience problems with group dynamics</a:t>
            </a:r>
          </a:p>
          <a:p>
            <a:r>
              <a:rPr lang="en-US" dirty="0"/>
              <a:t>e-JAD helps group overcome group dynamic issues – dominance, status differences, fear of reprisal</a:t>
            </a:r>
          </a:p>
          <a:p>
            <a:r>
              <a:rPr lang="en-US" dirty="0"/>
              <a:t>e-JAD provides ways for members to contribute, comment on, and rate ideas anonymously</a:t>
            </a:r>
          </a:p>
          <a:p>
            <a:r>
              <a:rPr lang="en-US" dirty="0"/>
              <a:t>Requires a trained e-JAD facilitator and groupware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145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JAD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Participants are selected on the basis of information they can contribute, to provide a broad mix of organizational levels, and to build political support for the new system</a:t>
            </a:r>
          </a:p>
          <a:p>
            <a:pPr lvl="1"/>
            <a:r>
              <a:rPr lang="en-US" dirty="0"/>
              <a:t>Should be released from regular duties to attend</a:t>
            </a:r>
          </a:p>
          <a:p>
            <a:r>
              <a:rPr lang="en-US" dirty="0"/>
              <a:t>JAD sessions can run from as little as a half day to several weeks</a:t>
            </a:r>
          </a:p>
          <a:p>
            <a:r>
              <a:rPr lang="en-US" dirty="0"/>
              <a:t>JAD sessions usually are designed and structured along the same principles as interviews</a:t>
            </a:r>
          </a:p>
          <a:p>
            <a:pPr lvl="1"/>
            <a:r>
              <a:rPr lang="en-US" dirty="0"/>
              <a:t>Closed-ended questions are seldom used</a:t>
            </a:r>
          </a:p>
          <a:p>
            <a:r>
              <a:rPr lang="en-US" dirty="0"/>
              <a:t>It is important to prepare the analysts and participants for the JAD session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44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Conducting the JAD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JAD sessions try to follow a formal agenda</a:t>
            </a:r>
          </a:p>
          <a:p>
            <a:r>
              <a:rPr lang="en-US" dirty="0"/>
              <a:t>Most also have formal ground rules that define appropriate behavior</a:t>
            </a:r>
          </a:p>
          <a:p>
            <a:r>
              <a:rPr lang="en-US" dirty="0"/>
              <a:t>The JAD facilitator performs three key functions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They ensure that the group sticks to the agenda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They help the group understand the technical terms and jargon that surround the system development process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They record the group’s input on a public display area</a:t>
            </a:r>
          </a:p>
          <a:p>
            <a:r>
              <a:rPr lang="en-US" dirty="0"/>
              <a:t>The facilitator should try to help the group resolve issues</a:t>
            </a:r>
          </a:p>
          <a:p>
            <a:r>
              <a:rPr lang="en-US" dirty="0"/>
              <a:t>It is common for the JAD participants to make use of several tools during the JAD session to fully define the new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5945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Post-JAD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JAD post-session report is prepared and circulated among session attendees</a:t>
            </a:r>
          </a:p>
          <a:p>
            <a:r>
              <a:rPr lang="en-US" dirty="0"/>
              <a:t>The post- session report is essentially the same as the interview report</a:t>
            </a:r>
          </a:p>
          <a:p>
            <a:r>
              <a:rPr lang="en-US" dirty="0"/>
              <a:t>Usually takes a week or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286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i="1" dirty="0"/>
              <a:t>questionnaire</a:t>
            </a:r>
            <a:r>
              <a:rPr lang="en-US" dirty="0"/>
              <a:t> is a set of written questions for obtaining information from individuals</a:t>
            </a:r>
          </a:p>
          <a:p>
            <a:pPr lvl="1">
              <a:spcBef>
                <a:spcPts val="1000"/>
              </a:spcBef>
              <a:buSzPct val="100000"/>
            </a:pPr>
            <a:r>
              <a:rPr lang="en-US" dirty="0">
                <a:solidFill>
                  <a:prstClr val="black"/>
                </a:solidFill>
              </a:rPr>
              <a:t>Mass produced and distributed</a:t>
            </a:r>
          </a:p>
          <a:p>
            <a:pPr lvl="1">
              <a:spcBef>
                <a:spcPts val="1000"/>
              </a:spcBef>
              <a:buSzPct val="100000"/>
            </a:pPr>
            <a:r>
              <a:rPr lang="en-US" dirty="0">
                <a:solidFill>
                  <a:prstClr val="black"/>
                </a:solidFill>
              </a:rPr>
              <a:t>Respondents complete the questionnaire on their own time</a:t>
            </a:r>
          </a:p>
          <a:p>
            <a:r>
              <a:rPr lang="en-US" sz="2600" dirty="0">
                <a:solidFill>
                  <a:prstClr val="black"/>
                </a:solidFill>
              </a:rPr>
              <a:t>Facts are collected from a large number of people while maintaining uniform responses</a:t>
            </a:r>
          </a:p>
          <a:p>
            <a:pPr lvl="1">
              <a:spcBef>
                <a:spcPts val="1000"/>
              </a:spcBef>
              <a:buSzPct val="100000"/>
            </a:pPr>
            <a:r>
              <a:rPr lang="en-US" dirty="0">
                <a:solidFill>
                  <a:prstClr val="black"/>
                </a:solidFill>
              </a:rPr>
              <a:t>When dealing with a large audience, no other fact-finding technique can tabulate the same facts as efficiently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1065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Questionnaires </a:t>
            </a:r>
            <a:r>
              <a:rPr lang="en-US" sz="2000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first step is to select the individuals to whom the questionnaire will be sent</a:t>
            </a:r>
          </a:p>
          <a:p>
            <a:r>
              <a:rPr lang="en-US" dirty="0"/>
              <a:t>Developing good questions is critical for questionnaires because the information on a questionnaire cannot be clarified</a:t>
            </a:r>
          </a:p>
          <a:p>
            <a:r>
              <a:rPr lang="en-US" dirty="0"/>
              <a:t>You must have a clear understanding of how the information collected from the questionnaire will be analyzed and used</a:t>
            </a:r>
          </a:p>
          <a:p>
            <a:r>
              <a:rPr lang="en-US" dirty="0"/>
              <a:t>Questions should be relatively consistent in style so that the respondent does not have to read instructions for each question</a:t>
            </a:r>
          </a:p>
          <a:p>
            <a:r>
              <a:rPr lang="en-US" dirty="0"/>
              <a:t>The key issue in administering the questionnaire is getting participants to complete the questionnaire and send it 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639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Questionnaire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Begin with nonthreatening and interesting questions</a:t>
            </a:r>
          </a:p>
          <a:p>
            <a:r>
              <a:rPr lang="en-US" dirty="0"/>
              <a:t>Group items into logically coherent sections</a:t>
            </a:r>
          </a:p>
          <a:p>
            <a:r>
              <a:rPr lang="en-US" dirty="0"/>
              <a:t>Do not put important items at the very end of the questionnaire</a:t>
            </a:r>
          </a:p>
          <a:p>
            <a:r>
              <a:rPr lang="en-US" dirty="0"/>
              <a:t>Do not crowd a page with too many items</a:t>
            </a:r>
          </a:p>
          <a:p>
            <a:r>
              <a:rPr lang="en-US" dirty="0"/>
              <a:t>Avoid abbreviations</a:t>
            </a:r>
          </a:p>
          <a:p>
            <a:r>
              <a:rPr lang="en-US" dirty="0"/>
              <a:t>Avoid biased or suggestive items or terms</a:t>
            </a:r>
          </a:p>
          <a:p>
            <a:r>
              <a:rPr lang="en-US" dirty="0"/>
              <a:t>Number questions to avoid confusion</a:t>
            </a:r>
          </a:p>
          <a:p>
            <a:r>
              <a:rPr lang="en-US" dirty="0"/>
              <a:t>Pretest the questionnaire to identify confusing questions</a:t>
            </a:r>
          </a:p>
          <a:p>
            <a:r>
              <a:rPr lang="en-US" dirty="0"/>
              <a:t>Provide anonymity to respondents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242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Questionnaires as a Requirements Elicitation Technique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412098-7C99-4DC6-B1E0-D03888FB1F5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Most can be answered quickly (if properly designed)</a:t>
            </a:r>
          </a:p>
          <a:p>
            <a:r>
              <a:rPr lang="en-US" dirty="0"/>
              <a:t>Relatively inexpensive</a:t>
            </a:r>
          </a:p>
          <a:p>
            <a:r>
              <a:rPr lang="en-US" dirty="0"/>
              <a:t>Allow individuals to maintain anonymity</a:t>
            </a:r>
          </a:p>
          <a:p>
            <a:r>
              <a:rPr lang="en-US" dirty="0"/>
              <a:t>Can be tabulated and analyzed quickly (if properly designed)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416F84-F139-4ECA-9502-28C431E9373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Weaknesses</a:t>
            </a:r>
          </a:p>
          <a:p>
            <a:r>
              <a:rPr lang="en-US" dirty="0"/>
              <a:t>Response is often low.  How to motivate participation?</a:t>
            </a:r>
          </a:p>
          <a:p>
            <a:r>
              <a:rPr lang="en-US" dirty="0"/>
              <a:t>Incomplete questionnaires returned – are these worthless?</a:t>
            </a:r>
          </a:p>
          <a:p>
            <a:r>
              <a:rPr lang="en-US" dirty="0"/>
              <a:t>Tend to be inflexible</a:t>
            </a:r>
          </a:p>
          <a:p>
            <a:r>
              <a:rPr lang="en-US" dirty="0"/>
              <a:t>Body language cannot be observed</a:t>
            </a:r>
          </a:p>
          <a:p>
            <a:r>
              <a:rPr lang="en-US" dirty="0"/>
              <a:t>Cannot clarify a vague or incomplete answer to any question</a:t>
            </a:r>
          </a:p>
          <a:p>
            <a:r>
              <a:rPr lang="en-US" dirty="0"/>
              <a:t>Difficult to prepare a successful questionnaire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3-</a:t>
            </a:r>
            <a:fld id="{D06C706D-0964-7842-B7B8-C5D73370052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600177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Questionnaires – Practical Tips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Determine what facts and opinions must be collected and from whom you should get them</a:t>
            </a:r>
          </a:p>
          <a:p>
            <a:r>
              <a:rPr lang="en-US" dirty="0"/>
              <a:t>Based on the needed facts and opinions, determine whether free- or fixed-format questions will produce the best answers.  A mix of types may be ideal.</a:t>
            </a:r>
          </a:p>
          <a:p>
            <a:r>
              <a:rPr lang="en-US" dirty="0"/>
              <a:t>Write the questions</a:t>
            </a:r>
          </a:p>
          <a:p>
            <a:r>
              <a:rPr lang="en-US" dirty="0"/>
              <a:t>Pretest the questions on a small sample of “typical” respondents – not just other systems analysts</a:t>
            </a:r>
          </a:p>
          <a:p>
            <a:r>
              <a:rPr lang="en-US" dirty="0"/>
              <a:t>Use random sampling if necessary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D06C706D-0964-7842-B7B8-C5D733700528}" type="slidenum">
              <a:rPr lang="en-US" smtClean="0"/>
              <a:t>39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©2018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33037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Collect facts from existing documentation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Organizational chart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History that led to the project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Documentation from previous system studies and designs performed by systems analysts and consultants</a:t>
            </a:r>
          </a:p>
          <a:p>
            <a:pPr marL="292608" lvl="1" indent="-292608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Analyze facts to determine currency 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Even outdated documentation may be useful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</a:rPr>
              <a:t>Must recognize what is current and what is outdated</a:t>
            </a:r>
          </a:p>
          <a:p>
            <a:pPr marL="292608" lvl="1" indent="-292608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Analyze to understand the documentation</a:t>
            </a:r>
          </a:p>
          <a:p>
            <a:pPr lvl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Take notes, draw pictures, and use systems analysis and design tools to model what you are learning or proposing for the system</a:t>
            </a:r>
          </a:p>
          <a:p>
            <a:pPr marL="292608" lvl="1" indent="-292608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</a:rPr>
              <a:t>Use appropriate sampling techniques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004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Analysis – Practical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Good place to start</a:t>
            </a:r>
          </a:p>
          <a:p>
            <a:pPr lvl="1"/>
            <a:r>
              <a:rPr lang="en-US" dirty="0"/>
              <a:t>History </a:t>
            </a:r>
          </a:p>
          <a:p>
            <a:pPr lvl="1"/>
            <a:r>
              <a:rPr lang="en-US" dirty="0"/>
              <a:t>Vocabulary </a:t>
            </a:r>
          </a:p>
          <a:p>
            <a:pPr lvl="1"/>
            <a:r>
              <a:rPr lang="en-US" dirty="0"/>
              <a:t>Key personnel</a:t>
            </a:r>
          </a:p>
          <a:p>
            <a:r>
              <a:rPr lang="en-US" dirty="0"/>
              <a:t>Learn as much as you can from existing documentation</a:t>
            </a:r>
          </a:p>
          <a:p>
            <a:r>
              <a:rPr lang="en-US" dirty="0"/>
              <a:t>People get annoyed being asked about things you could have learned from existing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245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Document Analysis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231916" y="1752600"/>
            <a:ext cx="3728168" cy="4495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304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i="1" dirty="0"/>
              <a:t>Observation</a:t>
            </a:r>
            <a:r>
              <a:rPr lang="en-US" dirty="0"/>
              <a:t> , the act of watching processes being performed, is a powerful tool to gain insight into the as- is system</a:t>
            </a:r>
          </a:p>
          <a:p>
            <a:r>
              <a:rPr lang="en-US" dirty="0"/>
              <a:t>Use when the validity of data collected using other methods is in question</a:t>
            </a:r>
          </a:p>
          <a:p>
            <a:r>
              <a:rPr lang="en-US" dirty="0"/>
              <a:t>Use when the complexity of certain aspects of the system prevents end-users from providing a clear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5690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 as a Requirements Elicitation Technique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9ACA94-146E-4E19-828C-5EC21E1B0B4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Data gathered may be highly reliable</a:t>
            </a:r>
          </a:p>
          <a:p>
            <a:r>
              <a:rPr lang="en-US" dirty="0"/>
              <a:t>Can see exactly what is being done</a:t>
            </a:r>
          </a:p>
          <a:p>
            <a:r>
              <a:rPr lang="en-US" dirty="0"/>
              <a:t>Relatively inexpensive (compared with other fact-finding techniques)</a:t>
            </a:r>
          </a:p>
          <a:p>
            <a:r>
              <a:rPr lang="en-US" dirty="0"/>
              <a:t>Can do work measurements (if needed)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1528800-7D61-4C0C-9043-A424240AB72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Weaknesses</a:t>
            </a:r>
          </a:p>
          <a:p>
            <a:r>
              <a:rPr lang="en-US" dirty="0"/>
              <a:t>People may perform differently when being observed</a:t>
            </a:r>
          </a:p>
          <a:p>
            <a:r>
              <a:rPr lang="en-US" dirty="0"/>
              <a:t>Work may vary in difficulty and volume</a:t>
            </a:r>
          </a:p>
          <a:p>
            <a:r>
              <a:rPr lang="en-US" dirty="0"/>
              <a:t>Some activities may take place at odd times</a:t>
            </a:r>
          </a:p>
          <a:p>
            <a:r>
              <a:rPr lang="en-US" dirty="0"/>
              <a:t>The tasks being observed are subject to various types of interruptions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3-</a:t>
            </a:r>
            <a:fld id="{D06C706D-0964-7842-B7B8-C5D733700528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398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Observation– Practical Tips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Properly plan for observation</a:t>
            </a:r>
          </a:p>
          <a:p>
            <a:r>
              <a:rPr lang="en-US" dirty="0"/>
              <a:t>Obtain approval and inform people of your purpose</a:t>
            </a:r>
          </a:p>
          <a:p>
            <a:r>
              <a:rPr lang="en-US" dirty="0"/>
              <a:t>Conduct observations first when the work load is normal, followed by observations during peak periods</a:t>
            </a:r>
          </a:p>
          <a:p>
            <a:r>
              <a:rPr lang="en-US" dirty="0"/>
              <a:t>Obtain samples of documents or forms that will be used by those being observed</a:t>
            </a:r>
          </a:p>
          <a:p>
            <a:r>
              <a:rPr lang="en-US" dirty="0"/>
              <a:t>Apply the sampling techniques discussed earlier for observation</a:t>
            </a:r>
          </a:p>
          <a:p>
            <a:r>
              <a:rPr lang="en-US" dirty="0"/>
              <a:t>Review observation notes with appropriate individuals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D06C706D-0964-7842-B7B8-C5D733700528}" type="slidenum">
              <a:rPr lang="en-US" smtClean="0"/>
              <a:t>45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51272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Requirements Elicitation Techniques</a:t>
            </a:r>
          </a:p>
        </p:txBody>
      </p:sp>
      <p:graphicFrame>
        <p:nvGraphicFramePr>
          <p:cNvPr id="8" name="Content Placeholder 7" descr="Table is accessible to screenreaders.">
            <a:extLst>
              <a:ext uri="{FF2B5EF4-FFF2-40B4-BE49-F238E27FC236}">
                <a16:creationId xmlns:a16="http://schemas.microsoft.com/office/drawing/2014/main" id="{03521BF1-F28E-4CEA-83C1-DEE1D2AA1A68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074975446"/>
              </p:ext>
            </p:extLst>
          </p:nvPr>
        </p:nvGraphicFramePr>
        <p:xfrm>
          <a:off x="406400" y="1752600"/>
          <a:ext cx="11379204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534">
                  <a:extLst>
                    <a:ext uri="{9D8B030D-6E8A-4147-A177-3AD203B41FA5}">
                      <a16:colId xmlns:a16="http://schemas.microsoft.com/office/drawing/2014/main" val="877078879"/>
                    </a:ext>
                  </a:extLst>
                </a:gridCol>
                <a:gridCol w="1839084">
                  <a:extLst>
                    <a:ext uri="{9D8B030D-6E8A-4147-A177-3AD203B41FA5}">
                      <a16:colId xmlns:a16="http://schemas.microsoft.com/office/drawing/2014/main" val="1141461720"/>
                    </a:ext>
                  </a:extLst>
                </a:gridCol>
                <a:gridCol w="1953984">
                  <a:extLst>
                    <a:ext uri="{9D8B030D-6E8A-4147-A177-3AD203B41FA5}">
                      <a16:colId xmlns:a16="http://schemas.microsoft.com/office/drawing/2014/main" val="2051591258"/>
                    </a:ext>
                  </a:extLst>
                </a:gridCol>
                <a:gridCol w="1896534">
                  <a:extLst>
                    <a:ext uri="{9D8B030D-6E8A-4147-A177-3AD203B41FA5}">
                      <a16:colId xmlns:a16="http://schemas.microsoft.com/office/drawing/2014/main" val="3621386563"/>
                    </a:ext>
                  </a:extLst>
                </a:gridCol>
                <a:gridCol w="1896534">
                  <a:extLst>
                    <a:ext uri="{9D8B030D-6E8A-4147-A177-3AD203B41FA5}">
                      <a16:colId xmlns:a16="http://schemas.microsoft.com/office/drawing/2014/main" val="2793874606"/>
                    </a:ext>
                  </a:extLst>
                </a:gridCol>
                <a:gridCol w="1896534">
                  <a:extLst>
                    <a:ext uri="{9D8B030D-6E8A-4147-A177-3AD203B41FA5}">
                      <a16:colId xmlns:a16="http://schemas.microsoft.com/office/drawing/2014/main" val="1692007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Interviews</a:t>
                      </a:r>
                      <a:endParaRPr lang="en-US" sz="1800" b="1" dirty="0"/>
                    </a:p>
                  </a:txBody>
                  <a:tcPr marL="122834" marR="122834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Joint Application</a:t>
                      </a:r>
                    </a:p>
                    <a:p>
                      <a:pPr algn="ctr"/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Design</a:t>
                      </a:r>
                      <a:endParaRPr lang="en-US" sz="1800" b="1" dirty="0"/>
                    </a:p>
                  </a:txBody>
                  <a:tcPr marL="122834" marR="122834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Questionnaires</a:t>
                      </a:r>
                      <a:endParaRPr lang="en-US" sz="1800" b="1" dirty="0"/>
                    </a:p>
                  </a:txBody>
                  <a:tcPr marL="122834" marR="122834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Document</a:t>
                      </a:r>
                    </a:p>
                    <a:p>
                      <a:pPr algn="ctr"/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Analysis</a:t>
                      </a:r>
                      <a:endParaRPr lang="en-US" sz="1800" b="1" dirty="0"/>
                    </a:p>
                  </a:txBody>
                  <a:tcPr marL="122834" marR="122834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Observation</a:t>
                      </a:r>
                      <a:endParaRPr lang="en-US" sz="1800" b="1" dirty="0"/>
                    </a:p>
                  </a:txBody>
                  <a:tcPr marL="122834" marR="122834" anchor="b"/>
                </a:tc>
                <a:extLst>
                  <a:ext uri="{0D108BD9-81ED-4DB2-BD59-A6C34878D82A}">
                    <a16:rowId xmlns:a16="http://schemas.microsoft.com/office/drawing/2014/main" val="1477519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Type of information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As-is, improvements,</a:t>
                      </a:r>
                    </a:p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to-be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As-is, improvements,</a:t>
                      </a:r>
                    </a:p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to-be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As-is, improvements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As-is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As-is</a:t>
                      </a:r>
                      <a:endParaRPr lang="en-US" sz="1800" dirty="0"/>
                    </a:p>
                  </a:txBody>
                  <a:tcPr marL="122834" marR="122834"/>
                </a:tc>
                <a:extLst>
                  <a:ext uri="{0D108BD9-81ED-4DB2-BD59-A6C34878D82A}">
                    <a16:rowId xmlns:a16="http://schemas.microsoft.com/office/drawing/2014/main" val="141734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Depth of information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extLst>
                  <a:ext uri="{0D108BD9-81ED-4DB2-BD59-A6C34878D82A}">
                    <a16:rowId xmlns:a16="http://schemas.microsoft.com/office/drawing/2014/main" val="3915196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Breadth of information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 marL="122834" marR="122834"/>
                </a:tc>
                <a:extLst>
                  <a:ext uri="{0D108BD9-81ED-4DB2-BD59-A6C34878D82A}">
                    <a16:rowId xmlns:a16="http://schemas.microsoft.com/office/drawing/2014/main" val="28623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Integration of information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extLst>
                  <a:ext uri="{0D108BD9-81ED-4DB2-BD59-A6C34878D82A}">
                    <a16:rowId xmlns:a16="http://schemas.microsoft.com/office/drawing/2014/main" val="94116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 involvement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extLst>
                  <a:ext uri="{0D108BD9-81ED-4DB2-BD59-A6C34878D82A}">
                    <a16:rowId xmlns:a16="http://schemas.microsoft.com/office/drawing/2014/main" val="2608647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Low–Medium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  <a:endParaRPr lang="en-US" sz="1800" dirty="0"/>
                    </a:p>
                  </a:txBody>
                  <a:tcPr marL="122834" marR="122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Low–Medium</a:t>
                      </a:r>
                      <a:endParaRPr lang="en-US" sz="1800" dirty="0"/>
                    </a:p>
                  </a:txBody>
                  <a:tcPr marL="122834" marR="122834"/>
                </a:tc>
                <a:extLst>
                  <a:ext uri="{0D108BD9-81ED-4DB2-BD59-A6C34878D82A}">
                    <a16:rowId xmlns:a16="http://schemas.microsoft.com/office/drawing/2014/main" val="289549454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D06C706D-0964-7842-B7B8-C5D733700528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©2021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574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Analysis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Problem analysis</a:t>
            </a:r>
          </a:p>
          <a:p>
            <a:r>
              <a:rPr lang="en-US" dirty="0"/>
              <a:t>Root cause analysis</a:t>
            </a:r>
          </a:p>
          <a:p>
            <a:r>
              <a:rPr lang="en-US" dirty="0"/>
              <a:t>Duration analysis</a:t>
            </a:r>
          </a:p>
          <a:p>
            <a:r>
              <a:rPr lang="en-US" dirty="0"/>
              <a:t>Activity-based costing</a:t>
            </a:r>
          </a:p>
          <a:p>
            <a:r>
              <a:rPr lang="en-US" dirty="0"/>
              <a:t>Informal benchmarking</a:t>
            </a:r>
          </a:p>
          <a:p>
            <a:r>
              <a:rPr lang="en-US" dirty="0"/>
              <a:t>Outcome analysis</a:t>
            </a:r>
          </a:p>
          <a:p>
            <a:r>
              <a:rPr lang="en-US" dirty="0"/>
              <a:t>Technology analysis</a:t>
            </a:r>
          </a:p>
          <a:p>
            <a:r>
              <a:rPr lang="en-US" dirty="0"/>
              <a:t>Activity elimination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77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Identify Small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Problem analysis</a:t>
            </a:r>
          </a:p>
          <a:p>
            <a:pPr lvl="1"/>
            <a:r>
              <a:rPr lang="en-US" dirty="0"/>
              <a:t>Ask users to identify problems and solutions</a:t>
            </a:r>
          </a:p>
          <a:p>
            <a:pPr lvl="1"/>
            <a:r>
              <a:rPr lang="en-US" dirty="0"/>
              <a:t>Improvements tend to be small and incremental</a:t>
            </a:r>
          </a:p>
          <a:p>
            <a:pPr lvl="1"/>
            <a:r>
              <a:rPr lang="en-US" dirty="0"/>
              <a:t>Rarely finds improvements with significant business value</a:t>
            </a:r>
          </a:p>
          <a:p>
            <a:r>
              <a:rPr lang="en-US" dirty="0"/>
              <a:t>Root cause analysis</a:t>
            </a:r>
          </a:p>
          <a:p>
            <a:pPr lvl="1"/>
            <a:r>
              <a:rPr lang="en-US" dirty="0"/>
              <a:t>Challenge assumptions about why problem exists</a:t>
            </a:r>
          </a:p>
          <a:p>
            <a:pPr lvl="1"/>
            <a:r>
              <a:rPr lang="en-US" dirty="0"/>
              <a:t>Trace symptoms to their causes to discover the “real”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673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Identify Moderate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/>
              <a:t>Goal is to improve efficiency and effectiveness</a:t>
            </a:r>
          </a:p>
          <a:p>
            <a:r>
              <a:rPr lang="en-US"/>
              <a:t>Expect moderate changes to existing systems</a:t>
            </a:r>
          </a:p>
          <a:p>
            <a:r>
              <a:rPr lang="en-US"/>
              <a:t>Expect moderate impact and value to organization</a:t>
            </a:r>
          </a:p>
          <a:p>
            <a:r>
              <a:rPr lang="en-US"/>
              <a:t>Types of activities:</a:t>
            </a:r>
          </a:p>
          <a:p>
            <a:pPr lvl="1"/>
            <a:r>
              <a:rPr lang="en-US"/>
              <a:t>Duration analysis: requires a detailed examination of the amount of time it takes to perform each process in the current as-is system</a:t>
            </a:r>
          </a:p>
          <a:p>
            <a:pPr lvl="1"/>
            <a:r>
              <a:rPr lang="en-US"/>
              <a:t>Activity-based costing: examines the cost of each major process or step in a business process rather than the time taken</a:t>
            </a:r>
          </a:p>
          <a:p>
            <a:pPr lvl="1"/>
            <a:r>
              <a:rPr lang="en-US"/>
              <a:t>Informal benchmarking: refers to studying how other organizations perform a business process to learn how your organization can do something better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864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Identify Major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Goal is radical redesign of business processes</a:t>
            </a:r>
          </a:p>
          <a:p>
            <a:r>
              <a:rPr lang="en-US" dirty="0"/>
              <a:t>Expect significant impact and value to organization</a:t>
            </a:r>
          </a:p>
          <a:p>
            <a:r>
              <a:rPr lang="en-US" dirty="0"/>
              <a:t>Existing system is “obliterated:</a:t>
            </a:r>
          </a:p>
          <a:p>
            <a:r>
              <a:rPr lang="en-US" dirty="0"/>
              <a:t>Activities focus on envisioning the business in new ways:</a:t>
            </a:r>
          </a:p>
          <a:p>
            <a:pPr lvl="1"/>
            <a:r>
              <a:rPr lang="en-US" dirty="0"/>
              <a:t>Outcome analysis</a:t>
            </a:r>
          </a:p>
          <a:p>
            <a:pPr lvl="1"/>
            <a:r>
              <a:rPr lang="en-US" dirty="0"/>
              <a:t>Technology analysis</a:t>
            </a:r>
          </a:p>
          <a:p>
            <a:pPr lvl="1"/>
            <a:r>
              <a:rPr lang="en-US" dirty="0"/>
              <a:t>Activity elimination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8490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Consider desirable outcomes from customers’ perspective</a:t>
            </a:r>
          </a:p>
          <a:p>
            <a:r>
              <a:rPr lang="en-US" dirty="0"/>
              <a:t>Consider what the organization could enable the customer to do</a:t>
            </a:r>
          </a:p>
          <a:p>
            <a:r>
              <a:rPr lang="en-US" dirty="0"/>
              <a:t>Brainstorm on desirable customer outcomes enabled by information systems and new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6224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Analysts list important and interesting technologies</a:t>
            </a:r>
          </a:p>
          <a:p>
            <a:r>
              <a:rPr lang="en-US" dirty="0"/>
              <a:t>Managers list important and interesting technologies</a:t>
            </a:r>
          </a:p>
          <a:p>
            <a:r>
              <a:rPr lang="en-US" dirty="0"/>
              <a:t>The group reviews each list and identifies how each technology might apply to and benefit the business</a:t>
            </a:r>
          </a:p>
          <a:p>
            <a:r>
              <a:rPr lang="en-US" dirty="0"/>
              <a:t>Brainstorming with special emphasis on technology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2181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Elimination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Identify what would happen if each organizational activity were eliminated</a:t>
            </a:r>
          </a:p>
          <a:p>
            <a:r>
              <a:rPr lang="en-US" dirty="0"/>
              <a:t>Use “force-fit” to test all possibilities</a:t>
            </a:r>
          </a:p>
          <a:p>
            <a:r>
              <a:rPr lang="en-US" dirty="0"/>
              <a:t>Insist that all activities are potentially eliminated, even if it seems preposterous.</a:t>
            </a:r>
          </a:p>
          <a:p>
            <a:r>
              <a:rPr lang="en-US" dirty="0"/>
              <a:t>Brainstorming technique that helps to overcome “but we’ve always done it that way” limitations on 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2858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Review </a:t>
            </a:r>
            <a:r>
              <a:rPr lang="en-US" sz="2000" dirty="0"/>
              <a:t>(1 or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 the purpose of the analysis phase. Discuss how its purpose differs from the design phase</a:t>
            </a:r>
          </a:p>
          <a:p>
            <a:r>
              <a:rPr lang="en-US" dirty="0"/>
              <a:t>Discuss the contents and purpose of the system proposal</a:t>
            </a:r>
          </a:p>
          <a:p>
            <a:r>
              <a:rPr lang="en-US" dirty="0"/>
              <a:t>Explain the concept of a requirement in an IS development project</a:t>
            </a:r>
          </a:p>
          <a:p>
            <a:r>
              <a:rPr lang="en-US" dirty="0"/>
              <a:t>Discuss the difference between a functional requirement and a nonfunctional requirement. Explain how both contribute to our understanding of the new information system</a:t>
            </a:r>
          </a:p>
          <a:p>
            <a:r>
              <a:rPr lang="en-US" dirty="0"/>
              <a:t>Discuss how to use interviews when eliciting requirements</a:t>
            </a:r>
          </a:p>
          <a:p>
            <a:r>
              <a:rPr lang="en-US" dirty="0"/>
              <a:t>Discuss how to use JAD when eliciting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849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Review </a:t>
            </a:r>
            <a:r>
              <a:rPr lang="en-US" sz="2000" dirty="0"/>
              <a:t>(2 or 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Discuss how to use questionnaires when eliciting requirements</a:t>
            </a:r>
          </a:p>
          <a:p>
            <a:r>
              <a:rPr lang="en-US" dirty="0"/>
              <a:t>Discuss how to use document analysis when eliciting requirements</a:t>
            </a:r>
          </a:p>
          <a:p>
            <a:r>
              <a:rPr lang="en-US" dirty="0"/>
              <a:t>Discuss how to use observation when eliciting requirements</a:t>
            </a:r>
          </a:p>
          <a:p>
            <a:r>
              <a:rPr lang="en-US" dirty="0"/>
              <a:t>Describe the problem analysis strategy and how it contributes to the analysis phase</a:t>
            </a:r>
          </a:p>
          <a:p>
            <a:r>
              <a:rPr lang="en-US" dirty="0"/>
              <a:t>Describe the root cause analysis strategy and how it contributes to the analysis phase</a:t>
            </a:r>
          </a:p>
          <a:p>
            <a:r>
              <a:rPr lang="en-US" dirty="0"/>
              <a:t>Describe the duration analysis strategy and how it contributes to the analysis phase</a:t>
            </a:r>
          </a:p>
          <a:p>
            <a:r>
              <a:rPr lang="en-US" dirty="0"/>
              <a:t>Describe the activity-based costing strategy and how it contributes to the analysis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6395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Review </a:t>
            </a:r>
            <a:r>
              <a:rPr lang="en-US" sz="2000" dirty="0"/>
              <a:t>(3 or 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Describe the informal benchmarking strategy and how it contributes to the analysis phase</a:t>
            </a:r>
          </a:p>
          <a:p>
            <a:r>
              <a:rPr lang="en-US" dirty="0"/>
              <a:t>Describe the outcome analysis strategy and how it contributes to the analysis phase</a:t>
            </a:r>
          </a:p>
          <a:p>
            <a:r>
              <a:rPr lang="en-US" dirty="0"/>
              <a:t>Describe the technology analysis strategy and how it contributes to the analysis phase</a:t>
            </a:r>
          </a:p>
          <a:p>
            <a:r>
              <a:rPr lang="en-US" dirty="0"/>
              <a:t>Describe the activity elimination strategy and how it contributes to the analysis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39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 numCol="3">
            <a:normAutofit fontScale="85000" lnSpcReduction="20000"/>
          </a:bodyPr>
          <a:lstStyle/>
          <a:p>
            <a:r>
              <a:rPr lang="en-US" dirty="0"/>
              <a:t>Activity-based costing</a:t>
            </a:r>
          </a:p>
          <a:p>
            <a:r>
              <a:rPr lang="en-US" dirty="0"/>
              <a:t>Activity elimination</a:t>
            </a:r>
          </a:p>
          <a:p>
            <a:r>
              <a:rPr lang="en-US" dirty="0"/>
              <a:t>Analysis</a:t>
            </a:r>
          </a:p>
          <a:p>
            <a:r>
              <a:rPr lang="en-US" dirty="0"/>
              <a:t>As-is system</a:t>
            </a:r>
          </a:p>
          <a:p>
            <a:r>
              <a:rPr lang="en-US" dirty="0"/>
              <a:t>Benchmarking</a:t>
            </a:r>
          </a:p>
          <a:p>
            <a:r>
              <a:rPr lang="en-US" dirty="0"/>
              <a:t>Bottom-up interview</a:t>
            </a:r>
          </a:p>
          <a:p>
            <a:r>
              <a:rPr lang="en-US" dirty="0"/>
              <a:t>Business requirements</a:t>
            </a:r>
          </a:p>
          <a:p>
            <a:r>
              <a:rPr lang="en-US" dirty="0"/>
              <a:t>Business value</a:t>
            </a:r>
          </a:p>
          <a:p>
            <a:r>
              <a:rPr lang="en-US" dirty="0"/>
              <a:t>Closed-ended questions</a:t>
            </a:r>
          </a:p>
          <a:p>
            <a:r>
              <a:rPr lang="en-US" dirty="0"/>
              <a:t>Critical thinking skills</a:t>
            </a:r>
          </a:p>
          <a:p>
            <a:r>
              <a:rPr lang="en-US" dirty="0"/>
              <a:t>Document analysis</a:t>
            </a:r>
          </a:p>
          <a:p>
            <a:r>
              <a:rPr lang="en-US" dirty="0"/>
              <a:t>Duration analysis</a:t>
            </a:r>
          </a:p>
          <a:p>
            <a:r>
              <a:rPr lang="en-US" dirty="0"/>
              <a:t>Electronic JAD, or</a:t>
            </a:r>
          </a:p>
          <a:p>
            <a:r>
              <a:rPr lang="en-US" dirty="0"/>
              <a:t>e-JAD</a:t>
            </a:r>
          </a:p>
          <a:p>
            <a:r>
              <a:rPr lang="en-US" dirty="0"/>
              <a:t>Facilitator</a:t>
            </a:r>
          </a:p>
          <a:p>
            <a:r>
              <a:rPr lang="en-US" dirty="0"/>
              <a:t>Formal system</a:t>
            </a:r>
          </a:p>
          <a:p>
            <a:r>
              <a:rPr lang="en-US" dirty="0"/>
              <a:t>Functional requirements</a:t>
            </a:r>
          </a:p>
          <a:p>
            <a:r>
              <a:rPr lang="en-US" dirty="0"/>
              <a:t>Ground rule</a:t>
            </a:r>
          </a:p>
          <a:p>
            <a:r>
              <a:rPr lang="en-US" dirty="0"/>
              <a:t>Informal benchmarking</a:t>
            </a:r>
          </a:p>
          <a:p>
            <a:r>
              <a:rPr lang="en-US" dirty="0"/>
              <a:t>Informal system</a:t>
            </a:r>
          </a:p>
          <a:p>
            <a:r>
              <a:rPr lang="en-US" dirty="0"/>
              <a:t>Interpersonal skills</a:t>
            </a:r>
          </a:p>
          <a:p>
            <a:r>
              <a:rPr lang="en-US" dirty="0"/>
              <a:t>Interview</a:t>
            </a:r>
          </a:p>
          <a:p>
            <a:r>
              <a:rPr lang="en-US" dirty="0"/>
              <a:t>Interview notes</a:t>
            </a:r>
          </a:p>
          <a:p>
            <a:r>
              <a:rPr lang="en-US" dirty="0"/>
              <a:t>Interview report</a:t>
            </a:r>
          </a:p>
          <a:p>
            <a:r>
              <a:rPr lang="en-US" dirty="0"/>
              <a:t>Interview schedule</a:t>
            </a:r>
          </a:p>
          <a:p>
            <a:r>
              <a:rPr lang="en-US" dirty="0"/>
              <a:t>Joint Application</a:t>
            </a:r>
          </a:p>
          <a:p>
            <a:r>
              <a:rPr lang="en-US" dirty="0"/>
              <a:t>Development (JAD)</a:t>
            </a:r>
          </a:p>
          <a:p>
            <a:r>
              <a:rPr lang="en-US" dirty="0"/>
              <a:t>Nonfunctional requirements</a:t>
            </a:r>
          </a:p>
          <a:p>
            <a:r>
              <a:rPr lang="en-US" dirty="0"/>
              <a:t>Observation</a:t>
            </a:r>
          </a:p>
          <a:p>
            <a:r>
              <a:rPr lang="en-US" dirty="0"/>
              <a:t>Open-ended questions</a:t>
            </a:r>
          </a:p>
          <a:p>
            <a:r>
              <a:rPr lang="en-US" dirty="0"/>
              <a:t>Outcome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680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 numCol="3">
            <a:normAutofit fontScale="92500"/>
          </a:bodyPr>
          <a:lstStyle/>
          <a:p>
            <a:r>
              <a:rPr lang="en-US"/>
              <a:t>Parallelization</a:t>
            </a:r>
            <a:endParaRPr lang="en-US" dirty="0"/>
          </a:p>
          <a:p>
            <a:r>
              <a:rPr lang="en-US" dirty="0"/>
              <a:t>Post-session report</a:t>
            </a:r>
          </a:p>
          <a:p>
            <a:r>
              <a:rPr lang="en-US" dirty="0"/>
              <a:t>Probing questions</a:t>
            </a:r>
          </a:p>
          <a:p>
            <a:r>
              <a:rPr lang="en-US" dirty="0"/>
              <a:t>Problem analysis</a:t>
            </a:r>
          </a:p>
          <a:p>
            <a:r>
              <a:rPr lang="en-US" dirty="0"/>
              <a:t>Process integration</a:t>
            </a:r>
          </a:p>
          <a:p>
            <a:r>
              <a:rPr lang="en-US" dirty="0"/>
              <a:t>Project cost</a:t>
            </a:r>
          </a:p>
          <a:p>
            <a:r>
              <a:rPr lang="en-US" dirty="0"/>
              <a:t>Questionnaire</a:t>
            </a:r>
          </a:p>
          <a:p>
            <a:r>
              <a:rPr lang="en-US" dirty="0"/>
              <a:t>Requirement</a:t>
            </a:r>
          </a:p>
          <a:p>
            <a:r>
              <a:rPr lang="en-US" dirty="0"/>
              <a:t>Requirements definition</a:t>
            </a:r>
          </a:p>
          <a:p>
            <a:r>
              <a:rPr lang="en-US" dirty="0"/>
              <a:t>Requirements determination</a:t>
            </a:r>
          </a:p>
          <a:p>
            <a:r>
              <a:rPr lang="en-US" dirty="0"/>
              <a:t>Root cause</a:t>
            </a:r>
          </a:p>
          <a:p>
            <a:r>
              <a:rPr lang="en-US" dirty="0"/>
              <a:t>Root cause analysis</a:t>
            </a:r>
          </a:p>
          <a:p>
            <a:r>
              <a:rPr lang="en-US" dirty="0"/>
              <a:t>Sample</a:t>
            </a:r>
          </a:p>
          <a:p>
            <a:r>
              <a:rPr lang="en-US" dirty="0"/>
              <a:t>Scribe</a:t>
            </a:r>
          </a:p>
          <a:p>
            <a:r>
              <a:rPr lang="en-US" dirty="0"/>
              <a:t>Stakeholder</a:t>
            </a:r>
          </a:p>
          <a:p>
            <a:r>
              <a:rPr lang="en-US" dirty="0"/>
              <a:t>Structured interview</a:t>
            </a:r>
          </a:p>
          <a:p>
            <a:r>
              <a:rPr lang="en-US" dirty="0"/>
              <a:t>Symptom</a:t>
            </a:r>
          </a:p>
          <a:p>
            <a:r>
              <a:rPr lang="en-US" dirty="0"/>
              <a:t>System proposal</a:t>
            </a:r>
          </a:p>
          <a:p>
            <a:r>
              <a:rPr lang="en-US" dirty="0"/>
              <a:t>System requirements</a:t>
            </a:r>
          </a:p>
          <a:p>
            <a:r>
              <a:rPr lang="en-US" dirty="0"/>
              <a:t>Technology analysis</a:t>
            </a:r>
          </a:p>
          <a:p>
            <a:r>
              <a:rPr lang="en-US" dirty="0"/>
              <a:t>To-be system</a:t>
            </a:r>
          </a:p>
          <a:p>
            <a:r>
              <a:rPr lang="en-US" dirty="0"/>
              <a:t>Top-down interview</a:t>
            </a:r>
          </a:p>
          <a:p>
            <a:r>
              <a:rPr lang="en-US" dirty="0"/>
              <a:t>Unstructured interview</a:t>
            </a:r>
          </a:p>
          <a:p>
            <a:r>
              <a:rPr lang="en-US" dirty="0"/>
              <a:t>User requirements</a:t>
            </a:r>
          </a:p>
          <a:p>
            <a:r>
              <a:rPr lang="en-US" dirty="0"/>
              <a:t>Walk-through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3-</a:t>
            </a:r>
            <a:fld id="{67B19427-F580-D146-B60E-4CADEE75497F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846126"/>
      </p:ext>
    </p:extLst>
  </p:cSld>
  <p:clrMapOvr>
    <a:masterClrMapping/>
  </p:clrMapOvr>
</p:sld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ADB653A1-22A9-4BD0-B2B5-00B2E53CA889}"/>
    </a:ext>
  </a:extLst>
</a:theme>
</file>

<file path=ppt/theme/theme2.xml><?xml version="1.0" encoding="utf-8"?>
<a:theme xmlns:a="http://schemas.openxmlformats.org/drawingml/2006/main" name="Chapter Outline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25467C8E-E53C-4AD9-A914-F685BED9852C}"/>
    </a:ext>
  </a:extLst>
</a:theme>
</file>

<file path=ppt/theme/theme3.xml><?xml version="1.0" encoding="utf-8"?>
<a:theme xmlns:a="http://schemas.openxmlformats.org/drawingml/2006/main" name="Learning Objectives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895C9AC-D919-427F-9B86-94C36E44A5AC}"/>
    </a:ext>
  </a:extLst>
</a:theme>
</file>

<file path=ppt/theme/theme4.xml><?xml version="1.0" encoding="utf-8"?>
<a:theme xmlns:a="http://schemas.openxmlformats.org/drawingml/2006/main" name="Concept Check Ques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DF06AF5-28F1-4349-ABBF-0F854C7FF2AB}"/>
    </a:ext>
  </a:extLst>
</a:theme>
</file>

<file path=ppt/theme/theme5.xml><?xml version="1.0" encoding="utf-8"?>
<a:theme xmlns:a="http://schemas.openxmlformats.org/drawingml/2006/main" name="Key Term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DCC268CD-8C3E-414C-B079-8C7CF400294A}"/>
    </a:ext>
  </a:extLst>
</a:theme>
</file>

<file path=ppt/theme/theme6.xml><?xml version="1.0" encoding="utf-8"?>
<a:theme xmlns:a="http://schemas.openxmlformats.org/drawingml/2006/main" name="Sec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1E4FF330-8D2F-4F8D-BD47-17DD76922698}"/>
    </a:ext>
  </a:extLst>
</a:theme>
</file>

<file path=ppt/theme/theme7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9997BA5C-0A08-467C-973F-4C065CD0136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FC5FF765D7D64998B8A00072F6BAD5" ma:contentTypeVersion="15" ma:contentTypeDescription="Create a new document." ma:contentTypeScope="" ma:versionID="7dc141ca22241caa5807500f3576adfb">
  <xsd:schema xmlns:xsd="http://www.w3.org/2001/XMLSchema" xmlns:xs="http://www.w3.org/2001/XMLSchema" xmlns:p="http://schemas.microsoft.com/office/2006/metadata/properties" xmlns:ns1="http://schemas.microsoft.com/sharepoint/v3" xmlns:ns3="3acb1e6a-c770-49d5-a476-585c8d9f4762" xmlns:ns4="2849ce5b-a999-43ca-9b4e-9342bc28e78e" targetNamespace="http://schemas.microsoft.com/office/2006/metadata/properties" ma:root="true" ma:fieldsID="8f0ef06240b3429aa59a01c4d08c16e4" ns1:_="" ns3:_="" ns4:_="">
    <xsd:import namespace="http://schemas.microsoft.com/sharepoint/v3"/>
    <xsd:import namespace="3acb1e6a-c770-49d5-a476-585c8d9f4762"/>
    <xsd:import namespace="2849ce5b-a999-43ca-9b4e-9342bc28e78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b1e6a-c770-49d5-a476-585c8d9f47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9ce5b-a999-43ca-9b4e-9342bc28e7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acb1e6a-c770-49d5-a476-585c8d9f4762">
      <UserInfo>
        <DisplayName>McGinniss, Allison</DisplayName>
        <AccountId>4797</AccountId>
        <AccountType/>
      </UserInfo>
      <UserInfo>
        <DisplayName>Boylan, Jon</DisplayName>
        <AccountId>3791</AccountId>
        <AccountType/>
      </UserInfo>
      <UserInfo>
        <DisplayName>Swinford, Christin - Indianapolis</DisplayName>
        <AccountId>2742</AccountId>
        <AccountType/>
      </UserInfo>
      <UserInfo>
        <DisplayName>Davis, Kathy</DisplayName>
        <AccountId>3885</AccountId>
        <AccountType/>
      </UserInfo>
      <UserInfo>
        <DisplayName>Trent, Michael</DisplayName>
        <AccountId>3890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DECD1DE-F5AD-4A6B-99F8-E38245CC2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4E8EDE-B712-4183-997A-9529F0F6D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acb1e6a-c770-49d5-a476-585c8d9f4762"/>
    <ds:schemaRef ds:uri="2849ce5b-a999-43ca-9b4e-9342bc28e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EFD79E-06AF-4973-A733-BC27ECAABB1B}">
  <ds:schemaRefs>
    <ds:schemaRef ds:uri="http://purl.org/dc/elements/1.1/"/>
    <ds:schemaRef ds:uri="http://schemas.microsoft.com/sharepoint/v3"/>
    <ds:schemaRef ds:uri="http://www.w3.org/XML/1998/namespace"/>
    <ds:schemaRef ds:uri="http://schemas.microsoft.com/office/infopath/2007/PartnerControls"/>
    <ds:schemaRef ds:uri="2849ce5b-a999-43ca-9b4e-9342bc28e78e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3acb1e6a-c770-49d5-a476-585c8d9f476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McDaniel Template</Template>
  <TotalTime>221</TotalTime>
  <Words>4360</Words>
  <Application>Microsoft Macintosh PowerPoint</Application>
  <PresentationFormat>Widescreen</PresentationFormat>
  <Paragraphs>613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Arial</vt:lpstr>
      <vt:lpstr>Calibri</vt:lpstr>
      <vt:lpstr>Calibri Light</vt:lpstr>
      <vt:lpstr>Courier New</vt:lpstr>
      <vt:lpstr>Source Sans Pro</vt:lpstr>
      <vt:lpstr>Opener</vt:lpstr>
      <vt:lpstr>Chapter Outline</vt:lpstr>
      <vt:lpstr>Learning Objectives</vt:lpstr>
      <vt:lpstr>Concept Check Question</vt:lpstr>
      <vt:lpstr>Key Term</vt:lpstr>
      <vt:lpstr>Section</vt:lpstr>
      <vt:lpstr>Image Slide Master</vt:lpstr>
      <vt:lpstr>System Analysis and Design</vt:lpstr>
      <vt:lpstr>Objectives</vt:lpstr>
      <vt:lpstr>The Analysis Phase</vt:lpstr>
      <vt:lpstr>The Analysis Phase Continued</vt:lpstr>
      <vt:lpstr>The Analysis Phase Continued</vt:lpstr>
      <vt:lpstr>Requirements Determination</vt:lpstr>
      <vt:lpstr>What is a Requirement?</vt:lpstr>
      <vt:lpstr>Business Requirements</vt:lpstr>
      <vt:lpstr>User Requirements</vt:lpstr>
      <vt:lpstr>Functional Requirements</vt:lpstr>
      <vt:lpstr>More on Functional Requirements</vt:lpstr>
      <vt:lpstr>Nonfunctional Requirements</vt:lpstr>
      <vt:lpstr>More on Nonfunctional Requirements (1 of 2)</vt:lpstr>
      <vt:lpstr>More on Nonfunctional Requirements (2 of 2)</vt:lpstr>
      <vt:lpstr>The Process of Determining Requirements</vt:lpstr>
      <vt:lpstr>The Requirements Definition Statement</vt:lpstr>
      <vt:lpstr>Sample Functional Requirements</vt:lpstr>
      <vt:lpstr>Sample Nonfunctional Requirements</vt:lpstr>
      <vt:lpstr>Requirements Elicitation Techniques</vt:lpstr>
      <vt:lpstr>Requirements Elicitation in Practice</vt:lpstr>
      <vt:lpstr>Most Common Requirements Elicitation Techniques</vt:lpstr>
      <vt:lpstr>Interviews</vt:lpstr>
      <vt:lpstr>Three Types of Questions</vt:lpstr>
      <vt:lpstr>More on Interviewing</vt:lpstr>
      <vt:lpstr>Top-Down and Bottom-Up Questioning Strategies</vt:lpstr>
      <vt:lpstr>Interview as a Requirements Elicitation Technique</vt:lpstr>
      <vt:lpstr>Preparing for the Interview</vt:lpstr>
      <vt:lpstr>Conducting the Interview</vt:lpstr>
      <vt:lpstr>Post- interview Follow-Up</vt:lpstr>
      <vt:lpstr>Joint Application Development (JAD)</vt:lpstr>
      <vt:lpstr>Electronic JAD or e-JAD</vt:lpstr>
      <vt:lpstr>More on JAD</vt:lpstr>
      <vt:lpstr>Conducting the JAD Session</vt:lpstr>
      <vt:lpstr>Post-JAD Follow-Up</vt:lpstr>
      <vt:lpstr>Questionnaires</vt:lpstr>
      <vt:lpstr>Questionnaires Continued</vt:lpstr>
      <vt:lpstr>Good Questionnaire Design</vt:lpstr>
      <vt:lpstr>Questionnaires as a Requirements Elicitation Technique</vt:lpstr>
      <vt:lpstr>Questionnaires – Practical Tips</vt:lpstr>
      <vt:lpstr>Document Analysis</vt:lpstr>
      <vt:lpstr>Document Analysis – Practical Tips</vt:lpstr>
      <vt:lpstr>Sample Document Analysis</vt:lpstr>
      <vt:lpstr>Observation</vt:lpstr>
      <vt:lpstr>Observation as a Requirements Elicitation Technique</vt:lpstr>
      <vt:lpstr>Observation– Practical Tips</vt:lpstr>
      <vt:lpstr>Comparison of Requirements Elicitation Techniques</vt:lpstr>
      <vt:lpstr>Requirements Analysis Strategies</vt:lpstr>
      <vt:lpstr>To Identify Small Improvements</vt:lpstr>
      <vt:lpstr>To Identify Moderate Improvements</vt:lpstr>
      <vt:lpstr>To Identify Major Improvements</vt:lpstr>
      <vt:lpstr>Outcome Analysis</vt:lpstr>
      <vt:lpstr>Technology Analysis</vt:lpstr>
      <vt:lpstr>Activity Elimination</vt:lpstr>
      <vt:lpstr>Chapter Review (1 or 3)</vt:lpstr>
      <vt:lpstr>Chapter Review (2 or 3)</vt:lpstr>
      <vt:lpstr>Chapter Review (3 or 3)</vt:lpstr>
      <vt:lpstr>Key Terms (1 of 2)</vt:lpstr>
      <vt:lpstr>Key Terms (2 of 2)</vt:lpstr>
    </vt:vector>
  </TitlesOfParts>
  <Manager>Judy Howarth</Manager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Requirements Determination</dc:title>
  <dc:subject>System Analysis and Design 8E</dc:subject>
  <dc:creator>Ronny Richardson</dc:creator>
  <cp:keywords>Business</cp:keywords>
  <dc:description>This file was created by:_x000d_
_x000d_
Dr. Ronny Richardson_x000d_
Professor of Operations Management_x000d_
Coles College of Business_x000d_
Kennesaw State University_x000d_
_x000d_
DrRonnyRichardson@gmail.com</dc:description>
  <cp:lastModifiedBy>M18168</cp:lastModifiedBy>
  <cp:revision>53</cp:revision>
  <cp:lastPrinted>2017-04-26T13:25:47Z</cp:lastPrinted>
  <dcterms:created xsi:type="dcterms:W3CDTF">2021-04-29T19:32:45Z</dcterms:created>
  <dcterms:modified xsi:type="dcterms:W3CDTF">2025-06-21T06:39:33Z</dcterms:modified>
  <cp:category>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0x0101006FFC5FF765D7D64998B8A00072F6BAD5</vt:lpwstr>
  </property>
</Properties>
</file>